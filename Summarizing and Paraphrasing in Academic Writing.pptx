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Plus Jakarta Sans"/>
      <p:bold r:id="rId16"/>
      <p:boldItalic r:id="rId17"/>
    </p:embeddedFont>
    <p:embeddedFont>
      <p:font typeface="Inter"/>
      <p:bold r:id="rId18"/>
      <p:boldItalic r:id="rId19"/>
    </p:embeddedFont>
    <p:embeddedFont>
      <p:font typeface="Lora"/>
      <p:regular r:id="rId20"/>
      <p:bold r:id="rId21"/>
      <p:italic r:id="rId22"/>
      <p:boldItalic r:id="rId23"/>
    </p:embeddedFont>
    <p:embeddedFont>
      <p:font typeface="Quattrocento Sans"/>
      <p:bold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ora-regular.fntdata"/><Relationship Id="rId22" Type="http://schemas.openxmlformats.org/officeDocument/2006/relationships/font" Target="fonts/Lora-italic.fntdata"/><Relationship Id="rId21" Type="http://schemas.openxmlformats.org/officeDocument/2006/relationships/font" Target="fonts/Lora-bold.fntdata"/><Relationship Id="rId24" Type="http://schemas.openxmlformats.org/officeDocument/2006/relationships/font" Target="fonts/QuattrocentoSans-bold.fntdata"/><Relationship Id="rId23" Type="http://schemas.openxmlformats.org/officeDocument/2006/relationships/font" Target="fonts/Lora-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Quattrocento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lusJakartaSans-boldItalic.fntdata"/><Relationship Id="rId16" Type="http://schemas.openxmlformats.org/officeDocument/2006/relationships/font" Target="fonts/PlusJakartaSans-bold.fntdata"/><Relationship Id="rId19" Type="http://schemas.openxmlformats.org/officeDocument/2006/relationships/font" Target="fonts/Inter-boldItalic.fntdata"/><Relationship Id="rId1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20ac818dd5d0f7be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Master source integration as skill</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Practice-driven academic writing development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Core competence for research integrity</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83" name="Google Shape;83;h20ac818dd5d0f7be_1_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Condense arguments into central thesis</a:t>
            </a:r>
            <a:endParaRPr/>
          </a:p>
          <a:p>
            <a:pPr indent="0" lvl="0" marL="0" rtl="0" algn="l">
              <a:spcBef>
                <a:spcPts val="0"/>
              </a:spcBef>
              <a:spcAft>
                <a:spcPts val="0"/>
              </a:spcAft>
              <a:buClr>
                <a:schemeClr val="dk1"/>
              </a:buClr>
              <a:buSzPts val="1100"/>
              <a:buFont typeface="Arial"/>
              <a:buNone/>
            </a:pPr>
            <a:r>
              <a:rPr lang="en-US"/>
              <a:t>Eliminate secondary data and examples</a:t>
            </a:r>
            <a:endParaRPr/>
          </a:p>
          <a:p>
            <a:pPr indent="0" lvl="0" marL="0" rtl="0" algn="l">
              <a:spcBef>
                <a:spcPts val="0"/>
              </a:spcBef>
              <a:spcAft>
                <a:spcPts val="0"/>
              </a:spcAft>
              <a:buClr>
                <a:schemeClr val="dk1"/>
              </a:buClr>
              <a:buSzPts val="1100"/>
              <a:buFont typeface="Arial"/>
              <a:buNone/>
            </a:pPr>
            <a:r>
              <a:rPr lang="en-US"/>
              <a:t>Maintain neutrality with formal citation</a:t>
            </a:r>
            <a:endParaRPr/>
          </a:p>
          <a:p>
            <a:pPr indent="0" lvl="0" marL="0" rtl="0" algn="l">
              <a:spcBef>
                <a:spcPts val="0"/>
              </a:spcBef>
              <a:spcAft>
                <a:spcPts val="0"/>
              </a:spcAft>
              <a:buNone/>
            </a:pPr>
            <a:r>
              <a:t/>
            </a:r>
            <a:endParaRPr/>
          </a:p>
        </p:txBody>
      </p:sp>
      <p:sp>
        <p:nvSpPr>
          <p:cNvPr id="109" name="Google Shape;109;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6c8c4226d14b3106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Condense arguments into central thesis</a:t>
            </a:r>
            <a:endParaRPr/>
          </a:p>
          <a:p>
            <a:pPr indent="0" lvl="0" marL="0" rtl="0" algn="l">
              <a:spcBef>
                <a:spcPts val="0"/>
              </a:spcBef>
              <a:spcAft>
                <a:spcPts val="0"/>
              </a:spcAft>
              <a:buClr>
                <a:schemeClr val="dk1"/>
              </a:buClr>
              <a:buSzPts val="1100"/>
              <a:buFont typeface="Arial"/>
              <a:buNone/>
            </a:pPr>
            <a:r>
              <a:rPr lang="en-US"/>
              <a:t>Eliminate secondary data and examples</a:t>
            </a:r>
            <a:endParaRPr/>
          </a:p>
          <a:p>
            <a:pPr indent="0" lvl="0" marL="0" rtl="0" algn="l">
              <a:spcBef>
                <a:spcPts val="0"/>
              </a:spcBef>
              <a:spcAft>
                <a:spcPts val="0"/>
              </a:spcAft>
              <a:buClr>
                <a:schemeClr val="dk1"/>
              </a:buClr>
              <a:buSzPts val="1100"/>
              <a:buFont typeface="Arial"/>
              <a:buNone/>
            </a:pPr>
            <a:r>
              <a:rPr lang="en-US"/>
              <a:t>Maintain neutrality with formal citation</a:t>
            </a:r>
            <a:endParaRPr/>
          </a:p>
          <a:p>
            <a:pPr indent="0" lvl="0" marL="0" rtl="0" algn="l">
              <a:spcBef>
                <a:spcPts val="0"/>
              </a:spcBef>
              <a:spcAft>
                <a:spcPts val="0"/>
              </a:spcAft>
              <a:buNone/>
            </a:pPr>
            <a:r>
              <a:t/>
            </a:r>
            <a:endParaRPr/>
          </a:p>
        </p:txBody>
      </p:sp>
      <p:sp>
        <p:nvSpPr>
          <p:cNvPr id="138" name="Google Shape;138;h6c8c4226d14b3106_0_3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20ac818dd5d0f7be_1_12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h20ac818dd5d0f7be_1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Extract core thesis from details</a:t>
            </a:r>
            <a:endParaRPr/>
          </a:p>
          <a:p>
            <a:pPr indent="0" lvl="0" marL="0" rtl="0" algn="l">
              <a:spcBef>
                <a:spcPts val="0"/>
              </a:spcBef>
              <a:spcAft>
                <a:spcPts val="0"/>
              </a:spcAft>
              <a:buClr>
                <a:schemeClr val="dk1"/>
              </a:buClr>
              <a:buSzPts val="1100"/>
              <a:buFont typeface="Arial"/>
              <a:buNone/>
            </a:pPr>
            <a:r>
              <a:rPr lang="en-US"/>
              <a:t>Drastic length reduction without data</a:t>
            </a:r>
            <a:endParaRPr/>
          </a:p>
          <a:p>
            <a:pPr indent="0" lvl="0" marL="0" rtl="0" algn="l">
              <a:spcBef>
                <a:spcPts val="0"/>
              </a:spcBef>
              <a:spcAft>
                <a:spcPts val="0"/>
              </a:spcAft>
              <a:buClr>
                <a:schemeClr val="dk1"/>
              </a:buClr>
              <a:buSzPts val="1100"/>
              <a:buFont typeface="Arial"/>
              <a:buNone/>
            </a:pPr>
            <a:r>
              <a:rPr lang="en-US"/>
              <a:t>Preserve academic neutrality and citation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Rewrite in your personal voice</a:t>
            </a:r>
            <a:endParaRPr/>
          </a:p>
          <a:p>
            <a:pPr indent="0" lvl="0" marL="0" rtl="0" algn="l">
              <a:spcBef>
                <a:spcPts val="0"/>
              </a:spcBef>
              <a:spcAft>
                <a:spcPts val="0"/>
              </a:spcAft>
              <a:buClr>
                <a:schemeClr val="dk1"/>
              </a:buClr>
              <a:buSzPts val="1100"/>
              <a:buFont typeface="Arial"/>
              <a:buNone/>
            </a:pPr>
            <a:r>
              <a:rPr lang="en-US"/>
              <a:t>Modify syntax; preserve core meaning</a:t>
            </a:r>
            <a:endParaRPr/>
          </a:p>
          <a:p>
            <a:pPr indent="0" lvl="0" marL="0" rtl="0" algn="l">
              <a:spcBef>
                <a:spcPts val="0"/>
              </a:spcBef>
              <a:spcAft>
                <a:spcPts val="0"/>
              </a:spcAft>
              <a:buClr>
                <a:schemeClr val="dk1"/>
              </a:buClr>
              <a:buSzPts val="1100"/>
              <a:buFont typeface="Arial"/>
              <a:buNone/>
            </a:pPr>
            <a:r>
              <a:rPr lang="en-US"/>
              <a:t>Prevent mosaic and unintentional plagiarism</a:t>
            </a:r>
            <a:endParaRPr/>
          </a:p>
          <a:p>
            <a:pPr indent="0" lvl="0" marL="0" rtl="0" algn="l">
              <a:spcBef>
                <a:spcPts val="0"/>
              </a:spcBef>
              <a:spcAft>
                <a:spcPts val="0"/>
              </a:spcAft>
              <a:buNone/>
            </a:pPr>
            <a:r>
              <a:t/>
            </a:r>
            <a:endParaRPr/>
          </a:p>
        </p:txBody>
      </p:sp>
      <p:sp>
        <p:nvSpPr>
          <p:cNvPr id="211" name="Google Shape;211;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h20ac818dd5d0f7be_1_14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h20ac818dd5d0f7be_1_1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Structural syntax changes over synonyms</a:t>
            </a:r>
            <a:endParaRPr/>
          </a:p>
          <a:p>
            <a:pPr indent="0" lvl="0" marL="0" rtl="0" algn="l">
              <a:spcBef>
                <a:spcPts val="0"/>
              </a:spcBef>
              <a:spcAft>
                <a:spcPts val="0"/>
              </a:spcAft>
              <a:buClr>
                <a:schemeClr val="dk1"/>
              </a:buClr>
              <a:buSzPts val="1100"/>
              <a:buFont typeface="Arial"/>
              <a:buNone/>
            </a:pPr>
            <a:r>
              <a:rPr lang="en-US"/>
              <a:t>Maintain equivalent length and precision</a:t>
            </a:r>
            <a:endParaRPr/>
          </a:p>
          <a:p>
            <a:pPr indent="0" lvl="0" marL="0" rtl="0" algn="l">
              <a:spcBef>
                <a:spcPts val="0"/>
              </a:spcBef>
              <a:spcAft>
                <a:spcPts val="0"/>
              </a:spcAft>
              <a:buClr>
                <a:schemeClr val="dk1"/>
              </a:buClr>
              <a:buSzPts val="1100"/>
              <a:buFont typeface="Arial"/>
              <a:buNone/>
            </a:pPr>
            <a:r>
              <a:rPr lang="en-US"/>
              <a:t>Protect meaning while shifting clauses</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Passive voice and academic synonyms</a:t>
            </a:r>
            <a:endParaRPr/>
          </a:p>
          <a:p>
            <a:pPr indent="0" lvl="0" marL="0" rtl="0" algn="l">
              <a:spcBef>
                <a:spcPts val="0"/>
              </a:spcBef>
              <a:spcAft>
                <a:spcPts val="0"/>
              </a:spcAft>
              <a:buClr>
                <a:schemeClr val="dk1"/>
              </a:buClr>
              <a:buSzPts val="1100"/>
              <a:buFont typeface="Arial"/>
              <a:buNone/>
            </a:pPr>
            <a:r>
              <a:rPr lang="en-US"/>
              <a:t>Clause subordination and logical reordering</a:t>
            </a:r>
            <a:endParaRPr/>
          </a:p>
          <a:p>
            <a:pPr indent="0" lvl="0" marL="0" rtl="0" algn="l">
              <a:spcBef>
                <a:spcPts val="0"/>
              </a:spcBef>
              <a:spcAft>
                <a:spcPts val="0"/>
              </a:spcAft>
              <a:buClr>
                <a:schemeClr val="dk1"/>
              </a:buClr>
              <a:buSzPts val="1100"/>
              <a:buFont typeface="Arial"/>
              <a:buNone/>
            </a:pPr>
            <a:r>
              <a:rPr lang="en-US"/>
              <a:t>Reporting verbs with formal attribution</a:t>
            </a:r>
            <a:endParaRPr/>
          </a:p>
          <a:p>
            <a:pPr indent="0" lvl="0" marL="0" rtl="0" algn="l">
              <a:spcBef>
                <a:spcPts val="0"/>
              </a:spcBef>
              <a:spcAft>
                <a:spcPts val="0"/>
              </a:spcAft>
              <a:buNone/>
            </a:pPr>
            <a:r>
              <a:t/>
            </a:r>
            <a:endParaRPr/>
          </a:p>
        </p:txBody>
      </p:sp>
      <p:sp>
        <p:nvSpPr>
          <p:cNvPr id="270" name="Google Shape;270;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Precise lexical shifts like anthropogenic</a:t>
            </a:r>
            <a:endParaRPr/>
          </a:p>
          <a:p>
            <a:pPr indent="0" lvl="0" marL="0" rtl="0" algn="l">
              <a:spcBef>
                <a:spcPts val="0"/>
              </a:spcBef>
              <a:spcAft>
                <a:spcPts val="0"/>
              </a:spcAft>
              <a:buClr>
                <a:schemeClr val="dk1"/>
              </a:buClr>
              <a:buSzPts val="1100"/>
              <a:buFont typeface="Arial"/>
              <a:buNone/>
            </a:pPr>
            <a:r>
              <a:rPr lang="en-US"/>
              <a:t>Condense statistics into conceptual claims</a:t>
            </a:r>
            <a:endParaRPr/>
          </a:p>
          <a:p>
            <a:pPr indent="0" lvl="0" marL="0" rtl="0" algn="l">
              <a:spcBef>
                <a:spcPts val="0"/>
              </a:spcBef>
              <a:spcAft>
                <a:spcPts val="0"/>
              </a:spcAft>
              <a:buClr>
                <a:schemeClr val="dk1"/>
              </a:buClr>
              <a:buSzPts val="1100"/>
              <a:buFont typeface="Arial"/>
              <a:buNone/>
            </a:pPr>
            <a:r>
              <a:rPr lang="en-US"/>
              <a:t>Preserve mandatory canonical citation (IPCC)</a:t>
            </a:r>
            <a:endParaRPr/>
          </a:p>
          <a:p>
            <a:pPr indent="0" lvl="0" marL="0" rtl="0" algn="l">
              <a:spcBef>
                <a:spcPts val="0"/>
              </a:spcBef>
              <a:spcAft>
                <a:spcPts val="0"/>
              </a:spcAft>
              <a:buNone/>
            </a:pPr>
            <a:r>
              <a:t/>
            </a:r>
            <a:endParaRPr/>
          </a:p>
        </p:txBody>
      </p:sp>
      <p:sp>
        <p:nvSpPr>
          <p:cNvPr id="293" name="Google Shape;293;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Structural comprehension over lexical substitution</a:t>
            </a:r>
            <a:endParaRPr/>
          </a:p>
          <a:p>
            <a:pPr indent="0" lvl="0" marL="0" rtl="0" algn="l">
              <a:spcBef>
                <a:spcPts val="0"/>
              </a:spcBef>
              <a:spcAft>
                <a:spcPts val="0"/>
              </a:spcAft>
              <a:buClr>
                <a:schemeClr val="dk1"/>
              </a:buClr>
              <a:buSzPts val="1100"/>
              <a:buFont typeface="Arial"/>
              <a:buNone/>
            </a:pPr>
            <a:r>
              <a:rPr lang="en-US"/>
              <a:t>Discard secondary details and noise</a:t>
            </a:r>
            <a:endParaRPr/>
          </a:p>
          <a:p>
            <a:pPr indent="0" lvl="0" marL="0" rtl="0" algn="l">
              <a:spcBef>
                <a:spcPts val="0"/>
              </a:spcBef>
              <a:spcAft>
                <a:spcPts val="0"/>
              </a:spcAft>
              <a:buClr>
                <a:schemeClr val="dk1"/>
              </a:buClr>
              <a:buSzPts val="1100"/>
              <a:buFont typeface="Arial"/>
              <a:buNone/>
            </a:pPr>
            <a:r>
              <a:rPr lang="en-US"/>
              <a:t>Extract methodological core with attribution</a:t>
            </a:r>
            <a:endParaRPr/>
          </a:p>
          <a:p>
            <a:pPr indent="0" lvl="0" marL="0" rtl="0" algn="l">
              <a:spcBef>
                <a:spcPts val="0"/>
              </a:spcBef>
              <a:spcAft>
                <a:spcPts val="0"/>
              </a:spcAft>
              <a:buNone/>
            </a:pPr>
            <a:r>
              <a:t/>
            </a:r>
            <a:endParaRPr/>
          </a:p>
        </p:txBody>
      </p:sp>
      <p:sp>
        <p:nvSpPr>
          <p:cNvPr id="317" name="Google Shape;317;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Deep comprehension, not simple camouflage</a:t>
            </a:r>
            <a:endParaRPr/>
          </a:p>
          <a:p>
            <a:pPr indent="0" lvl="0" marL="0" rtl="0" algn="l">
              <a:spcBef>
                <a:spcPts val="0"/>
              </a:spcBef>
              <a:spcAft>
                <a:spcPts val="0"/>
              </a:spcAft>
              <a:buClr>
                <a:schemeClr val="dk1"/>
              </a:buClr>
              <a:buSzPts val="1100"/>
              <a:buFont typeface="Arial"/>
              <a:buNone/>
            </a:pPr>
            <a:r>
              <a:rPr lang="en-US"/>
              <a:t>Authoritative voice through cognitive processing</a:t>
            </a:r>
            <a:endParaRPr/>
          </a:p>
          <a:p>
            <a:pPr indent="0" lvl="0" marL="0" rtl="0" algn="l">
              <a:spcBef>
                <a:spcPts val="0"/>
              </a:spcBef>
              <a:spcAft>
                <a:spcPts val="0"/>
              </a:spcAft>
              <a:buNone/>
            </a:pPr>
            <a:r>
              <a:rPr lang="en-US"/>
              <a:t>Ethical attribution ensures scientific dialogue</a:t>
            </a:r>
            <a:endParaRPr/>
          </a:p>
        </p:txBody>
      </p:sp>
      <p:sp>
        <p:nvSpPr>
          <p:cNvPr id="341" name="Google Shape;341;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bc91ea6df_53_0)">
  <p:cSld name="Generated (g3fbc91ea6df_53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 Id="rId4" Type="http://schemas.openxmlformats.org/officeDocument/2006/relationships/image" Target="../media/image32.png"/></Relationships>
</file>

<file path=ppt/slides/_rels/slide2.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8.png"/><Relationship Id="rId13" Type="http://schemas.openxmlformats.org/officeDocument/2006/relationships/image" Target="../media/image28.png"/><Relationship Id="rId12"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1.png"/><Relationship Id="rId9" Type="http://schemas.openxmlformats.org/officeDocument/2006/relationships/image" Target="../media/image4.png"/><Relationship Id="rId1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30.png"/><Relationship Id="rId8"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5.png"/></Relationships>
</file>

<file path=ppt/slides/_rels/slide5.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15.png"/><Relationship Id="rId13" Type="http://schemas.openxmlformats.org/officeDocument/2006/relationships/image" Target="../media/image16.png"/><Relationship Id="rId12"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22.png"/><Relationship Id="rId14" Type="http://schemas.openxmlformats.org/officeDocument/2006/relationships/image" Target="../media/image27.png"/><Relationship Id="rId5" Type="http://schemas.openxmlformats.org/officeDocument/2006/relationships/image" Target="../media/image14.png"/><Relationship Id="rId6" Type="http://schemas.openxmlformats.org/officeDocument/2006/relationships/image" Target="../media/image33.png"/><Relationship Id="rId7" Type="http://schemas.openxmlformats.org/officeDocument/2006/relationships/image" Target="../media/image18.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4"/>
          <p:cNvSpPr/>
          <p:nvPr/>
        </p:nvSpPr>
        <p:spPr>
          <a:xfrm>
            <a:off x="0" y="6492240"/>
            <a:ext cx="12192000" cy="365700"/>
          </a:xfrm>
          <a:prstGeom prst="rect">
            <a:avLst/>
          </a:prstGeom>
          <a:solidFill>
            <a:srgbClr val="AED6F1"/>
          </a:solidFill>
          <a:ln cap="flat" cmpd="sng" w="9525">
            <a:solidFill>
              <a:srgbClr val="4A7DB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6" name="Google Shape;86;p14"/>
          <p:cNvGrpSpPr/>
          <p:nvPr/>
        </p:nvGrpSpPr>
        <p:grpSpPr>
          <a:xfrm>
            <a:off x="635000" y="381000"/>
            <a:ext cx="10921727" cy="476400"/>
            <a:chOff x="0" y="0"/>
            <a:chExt cx="8191500" cy="476400"/>
          </a:xfrm>
        </p:grpSpPr>
        <p:sp>
          <p:nvSpPr>
            <p:cNvPr id="87" name="Google Shape;87;p14"/>
            <p:cNvSpPr/>
            <p:nvPr/>
          </p:nvSpPr>
          <p:spPr>
            <a:xfrm>
              <a:off x="0" y="0"/>
              <a:ext cx="81915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4"/>
            <p:cNvSpPr txBox="1"/>
            <p:nvPr/>
          </p:nvSpPr>
          <p:spPr>
            <a:xfrm>
              <a:off x="0" y="0"/>
              <a:ext cx="8191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1A2A6C"/>
                  </a:solidFill>
                  <a:latin typeface="Quattrocento Sans"/>
                  <a:ea typeface="Quattrocento Sans"/>
                  <a:cs typeface="Quattrocento Sans"/>
                  <a:sym typeface="Quattrocento Sans"/>
                </a:rPr>
                <a:t>Academic Reading &amp; Writing Workspace</a:t>
              </a:r>
              <a:endParaRPr b="1" sz="2800">
                <a:solidFill>
                  <a:srgbClr val="1A2A6C"/>
                </a:solidFill>
                <a:latin typeface="Quattrocento Sans"/>
                <a:ea typeface="Quattrocento Sans"/>
                <a:cs typeface="Quattrocento Sans"/>
                <a:sym typeface="Quattrocento Sans"/>
              </a:endParaRPr>
            </a:p>
          </p:txBody>
        </p:sp>
      </p:grpSp>
      <p:sp>
        <p:nvSpPr>
          <p:cNvPr id="89" name="Google Shape;89;p14"/>
          <p:cNvSpPr/>
          <p:nvPr/>
        </p:nvSpPr>
        <p:spPr>
          <a:xfrm>
            <a:off x="635000" y="1095375"/>
            <a:ext cx="5334000" cy="4953000"/>
          </a:xfrm>
          <a:prstGeom prst="roundRect">
            <a:avLst>
              <a:gd fmla="val 3809"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0" name="Google Shape;90;p14"/>
          <p:cNvGrpSpPr/>
          <p:nvPr/>
        </p:nvGrpSpPr>
        <p:grpSpPr>
          <a:xfrm>
            <a:off x="2108201" y="1343025"/>
            <a:ext cx="2387540" cy="1790700"/>
            <a:chOff x="-38100" y="-38100"/>
            <a:chExt cx="1790700" cy="1790700"/>
          </a:xfrm>
        </p:grpSpPr>
        <p:sp>
          <p:nvSpPr>
            <p:cNvPr id="91" name="Google Shape;91;p14"/>
            <p:cNvSpPr/>
            <p:nvPr/>
          </p:nvSpPr>
          <p:spPr>
            <a:xfrm>
              <a:off x="-38100" y="-38100"/>
              <a:ext cx="1790700" cy="1790700"/>
            </a:xfrm>
            <a:prstGeom prst="ellipse">
              <a:avLst/>
            </a:prstGeom>
            <a:solidFill>
              <a:srgbClr val="000000">
                <a:alpha val="0"/>
              </a:srgbClr>
            </a:solidFill>
            <a:ln cap="flat" cmpd="sng" w="57150">
              <a:solidFill>
                <a:srgbClr val="A6CE3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2" name="Google Shape;92;p14"/>
            <p:cNvPicPr preferRelativeResize="0"/>
            <p:nvPr/>
          </p:nvPicPr>
          <p:blipFill rotWithShape="1">
            <a:blip r:embed="rId3">
              <a:alphaModFix/>
            </a:blip>
            <a:srcRect b="0" l="0" r="0" t="0"/>
            <a:stretch/>
          </p:blipFill>
          <p:spPr>
            <a:xfrm>
              <a:off x="0" y="0"/>
              <a:ext cx="1714500" cy="1714500"/>
            </a:xfrm>
            <a:prstGeom prst="ellipse">
              <a:avLst/>
            </a:prstGeom>
            <a:noFill/>
            <a:ln>
              <a:noFill/>
            </a:ln>
          </p:spPr>
        </p:pic>
      </p:grpSp>
      <p:grpSp>
        <p:nvGrpSpPr>
          <p:cNvPr id="93" name="Google Shape;93;p14"/>
          <p:cNvGrpSpPr/>
          <p:nvPr/>
        </p:nvGrpSpPr>
        <p:grpSpPr>
          <a:xfrm>
            <a:off x="1016000" y="3286125"/>
            <a:ext cx="4571886" cy="1428900"/>
            <a:chOff x="0" y="0"/>
            <a:chExt cx="3429000" cy="1428900"/>
          </a:xfrm>
        </p:grpSpPr>
        <p:sp>
          <p:nvSpPr>
            <p:cNvPr id="94" name="Google Shape;94;p14"/>
            <p:cNvSpPr/>
            <p:nvPr/>
          </p:nvSpPr>
          <p:spPr>
            <a:xfrm>
              <a:off x="0" y="0"/>
              <a:ext cx="34290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0" y="0"/>
              <a:ext cx="3429000" cy="1428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2000">
                  <a:solidFill>
                    <a:srgbClr val="1A2A6C"/>
                  </a:solidFill>
                  <a:latin typeface="Quattrocento Sans"/>
                  <a:ea typeface="Quattrocento Sans"/>
                  <a:cs typeface="Quattrocento Sans"/>
                  <a:sym typeface="Quattrocento Sans"/>
                </a:rPr>
                <a:t>Dr. Arturo Rodríguez</a:t>
              </a:r>
              <a:endParaRPr b="1" sz="2000">
                <a:solidFill>
                  <a:srgbClr val="1A2A6C"/>
                </a:solidFill>
                <a:latin typeface="Quattrocento Sans"/>
                <a:ea typeface="Quattrocento Sans"/>
                <a:cs typeface="Quattrocento Sans"/>
                <a:sym typeface="Quattrocento Sans"/>
              </a:endParaRPr>
            </a:p>
            <a:p>
              <a:pPr indent="0" lvl="0" marL="0" rtl="0" algn="ctr">
                <a:spcBef>
                  <a:spcPts val="900"/>
                </a:spcBef>
                <a:spcAft>
                  <a:spcPts val="0"/>
                </a:spcAft>
                <a:buNone/>
              </a:pPr>
              <a:r>
                <a:rPr b="0" i="1" lang="en-US" sz="1300">
                  <a:solidFill>
                    <a:srgbClr val="475569"/>
                  </a:solidFill>
                  <a:latin typeface="Quattrocento Sans"/>
                  <a:ea typeface="Quattrocento Sans"/>
                  <a:cs typeface="Quattrocento Sans"/>
                  <a:sym typeface="Quattrocento Sans"/>
                </a:rPr>
                <a:t>"He creado esta plataforma con mucho cariño para apoyarte en tu camino hacia la excelencia académica..."</a:t>
              </a:r>
              <a:endParaRPr b="0" i="1" sz="1300">
                <a:solidFill>
                  <a:srgbClr val="475569"/>
                </a:solidFill>
                <a:latin typeface="Quattrocento Sans"/>
                <a:ea typeface="Quattrocento Sans"/>
                <a:cs typeface="Quattrocento Sans"/>
                <a:sym typeface="Quattrocento Sans"/>
              </a:endParaRPr>
            </a:p>
          </p:txBody>
        </p:sp>
      </p:grpSp>
      <p:grpSp>
        <p:nvGrpSpPr>
          <p:cNvPr id="96" name="Google Shape;96;p14"/>
          <p:cNvGrpSpPr/>
          <p:nvPr/>
        </p:nvGrpSpPr>
        <p:grpSpPr>
          <a:xfrm>
            <a:off x="1524000" y="5381625"/>
            <a:ext cx="3555911" cy="400200"/>
            <a:chOff x="0" y="0"/>
            <a:chExt cx="2667000" cy="400200"/>
          </a:xfrm>
        </p:grpSpPr>
        <p:sp>
          <p:nvSpPr>
            <p:cNvPr id="97" name="Google Shape;97;p14"/>
            <p:cNvSpPr/>
            <p:nvPr/>
          </p:nvSpPr>
          <p:spPr>
            <a:xfrm>
              <a:off x="0" y="0"/>
              <a:ext cx="2667000" cy="400200"/>
            </a:xfrm>
            <a:prstGeom prst="roundRect">
              <a:avLst>
                <a:gd fmla="val 50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8" name="Google Shape;98;p14"/>
            <p:cNvPicPr preferRelativeResize="0"/>
            <p:nvPr/>
          </p:nvPicPr>
          <p:blipFill rotWithShape="1">
            <a:blip r:embed="rId4">
              <a:alphaModFix/>
            </a:blip>
            <a:srcRect b="0" l="0" r="0" t="0"/>
            <a:stretch/>
          </p:blipFill>
          <p:spPr>
            <a:xfrm>
              <a:off x="133350" y="66675"/>
              <a:ext cx="266700" cy="266700"/>
            </a:xfrm>
            <a:prstGeom prst="rect">
              <a:avLst/>
            </a:prstGeom>
            <a:noFill/>
            <a:ln>
              <a:noFill/>
            </a:ln>
          </p:spPr>
        </p:pic>
        <p:sp>
          <p:nvSpPr>
            <p:cNvPr id="99" name="Google Shape;99;p14"/>
            <p:cNvSpPr txBox="1"/>
            <p:nvPr/>
          </p:nvSpPr>
          <p:spPr>
            <a:xfrm>
              <a:off x="457200" y="0"/>
              <a:ext cx="20955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A6CE39"/>
                  </a:solidFill>
                  <a:latin typeface="Quattrocento Sans"/>
                  <a:ea typeface="Quattrocento Sans"/>
                  <a:cs typeface="Quattrocento Sans"/>
                  <a:sym typeface="Quattrocento Sans"/>
                </a:rPr>
                <a:t>0000-0002-7017-9443</a:t>
              </a:r>
              <a:endParaRPr b="1" sz="1300">
                <a:solidFill>
                  <a:srgbClr val="A6CE39"/>
                </a:solidFill>
                <a:latin typeface="Quattrocento Sans"/>
                <a:ea typeface="Quattrocento Sans"/>
                <a:cs typeface="Quattrocento Sans"/>
                <a:sym typeface="Quattrocento Sans"/>
              </a:endParaRPr>
            </a:p>
          </p:txBody>
        </p:sp>
      </p:grpSp>
      <p:sp>
        <p:nvSpPr>
          <p:cNvPr id="100" name="Google Shape;100;p14"/>
          <p:cNvSpPr/>
          <p:nvPr/>
        </p:nvSpPr>
        <p:spPr>
          <a:xfrm>
            <a:off x="6223000" y="1095375"/>
            <a:ext cx="5334000" cy="4953000"/>
          </a:xfrm>
          <a:prstGeom prst="roundRect">
            <a:avLst>
              <a:gd fmla="val 3809" name="adj"/>
            </a:avLst>
          </a:prstGeom>
          <a:solidFill>
            <a:srgbClr val="1A2A6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1" name="Google Shape;101;p14"/>
          <p:cNvGrpSpPr/>
          <p:nvPr/>
        </p:nvGrpSpPr>
        <p:grpSpPr>
          <a:xfrm>
            <a:off x="6604000" y="1428750"/>
            <a:ext cx="2031949" cy="304800"/>
            <a:chOff x="0" y="0"/>
            <a:chExt cx="1524000" cy="304800"/>
          </a:xfrm>
        </p:grpSpPr>
        <p:sp>
          <p:nvSpPr>
            <p:cNvPr id="102" name="Google Shape;102;p14"/>
            <p:cNvSpPr/>
            <p:nvPr/>
          </p:nvSpPr>
          <p:spPr>
            <a:xfrm>
              <a:off x="0" y="0"/>
              <a:ext cx="1524000" cy="304800"/>
            </a:xfrm>
            <a:prstGeom prst="roundRect">
              <a:avLst>
                <a:gd fmla="val 50000" name="adj"/>
              </a:avLst>
            </a:prstGeom>
            <a:solidFill>
              <a:srgbClr val="A6CE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4"/>
            <p:cNvSpPr txBox="1"/>
            <p:nvPr/>
          </p:nvSpPr>
          <p:spPr>
            <a:xfrm>
              <a:off x="0" y="0"/>
              <a:ext cx="1524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1A2A6C"/>
                  </a:solidFill>
                  <a:latin typeface="Quattrocento Sans"/>
                  <a:ea typeface="Quattrocento Sans"/>
                  <a:cs typeface="Quattrocento Sans"/>
                  <a:sym typeface="Quattrocento Sans"/>
                </a:rPr>
                <a:t>WORK AREA</a:t>
              </a:r>
              <a:endParaRPr b="1" sz="1100">
                <a:solidFill>
                  <a:srgbClr val="1A2A6C"/>
                </a:solidFill>
                <a:latin typeface="Quattrocento Sans"/>
                <a:ea typeface="Quattrocento Sans"/>
                <a:cs typeface="Quattrocento Sans"/>
                <a:sym typeface="Quattrocento Sans"/>
              </a:endParaRPr>
            </a:p>
          </p:txBody>
        </p:sp>
      </p:grpSp>
      <p:grpSp>
        <p:nvGrpSpPr>
          <p:cNvPr id="104" name="Google Shape;104;p14"/>
          <p:cNvGrpSpPr/>
          <p:nvPr/>
        </p:nvGrpSpPr>
        <p:grpSpPr>
          <a:xfrm>
            <a:off x="6604000" y="1952625"/>
            <a:ext cx="4571886" cy="3714900"/>
            <a:chOff x="0" y="0"/>
            <a:chExt cx="3429000" cy="3714900"/>
          </a:xfrm>
        </p:grpSpPr>
        <p:sp>
          <p:nvSpPr>
            <p:cNvPr id="105" name="Google Shape;105;p14"/>
            <p:cNvSpPr/>
            <p:nvPr/>
          </p:nvSpPr>
          <p:spPr>
            <a:xfrm>
              <a:off x="0" y="0"/>
              <a:ext cx="3429000" cy="3714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4"/>
            <p:cNvSpPr txBox="1"/>
            <p:nvPr/>
          </p:nvSpPr>
          <p:spPr>
            <a:xfrm>
              <a:off x="0" y="0"/>
              <a:ext cx="3429000" cy="371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400">
                  <a:solidFill>
                    <a:srgbClr val="FFFFFF"/>
                  </a:solidFill>
                  <a:latin typeface="Quattrocento Sans"/>
                  <a:ea typeface="Quattrocento Sans"/>
                  <a:cs typeface="Quattrocento Sans"/>
                  <a:sym typeface="Quattrocento Sans"/>
                </a:rPr>
                <a:t>Summarizing and Paraphrasing vs. Plagiarizing</a:t>
              </a:r>
              <a:endParaRPr b="1" sz="3400">
                <a:solidFill>
                  <a:srgbClr val="FFFFFF"/>
                </a:solidFill>
                <a:latin typeface="Quattrocento Sans"/>
                <a:ea typeface="Quattrocento Sans"/>
                <a:cs typeface="Quattrocento Sans"/>
                <a:sym typeface="Quattrocento Sans"/>
              </a:endParaRPr>
            </a:p>
            <a:p>
              <a:pPr indent="0" lvl="0" marL="0" rtl="0" algn="l">
                <a:spcBef>
                  <a:spcPts val="1800"/>
                </a:spcBef>
                <a:spcAft>
                  <a:spcPts val="0"/>
                </a:spcAft>
                <a:buNone/>
              </a:pPr>
              <a:r>
                <a:rPr lang="en-US">
                  <a:solidFill>
                    <a:srgbClr val="CBD5E1"/>
                  </a:solidFill>
                  <a:latin typeface="Quattrocento Sans"/>
                  <a:ea typeface="Quattrocento Sans"/>
                  <a:cs typeface="Quattrocento Sans"/>
                  <a:sym typeface="Quattrocento Sans"/>
                </a:rPr>
                <a:t>Técnicas fundamentales para integrar evidencia científica con integridad y rigor académico.</a:t>
              </a:r>
              <a:endParaRPr>
                <a:solidFill>
                  <a:srgbClr val="CBD5E1"/>
                </a:solidFill>
                <a:latin typeface="Quattrocento Sans"/>
                <a:ea typeface="Quattrocento Sans"/>
                <a:cs typeface="Quattrocento Sans"/>
                <a:sym typeface="Quattrocento Sans"/>
              </a:endParaRPr>
            </a:p>
            <a:p>
              <a:pPr indent="0" lvl="0" marL="0" rtl="0" algn="l">
                <a:spcBef>
                  <a:spcPts val="1800"/>
                </a:spcBef>
                <a:spcAft>
                  <a:spcPts val="0"/>
                </a:spcAft>
                <a:buNone/>
              </a:pPr>
              <a:r>
                <a:t/>
              </a:r>
              <a:endParaRPr>
                <a:solidFill>
                  <a:srgbClr val="CBD5E1"/>
                </a:solidFill>
                <a:latin typeface="Quattrocento Sans"/>
                <a:ea typeface="Quattrocento Sans"/>
                <a:cs typeface="Quattrocento Sans"/>
                <a:sym typeface="Quattrocento San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15"/>
          <p:cNvSpPr/>
          <p:nvPr/>
        </p:nvSpPr>
        <p:spPr>
          <a:xfrm>
            <a:off x="647700" y="2273796"/>
            <a:ext cx="3505200" cy="1555200"/>
          </a:xfrm>
          <a:prstGeom prst="roundRect">
            <a:avLst>
              <a:gd fmla="val 7349" name="adj"/>
            </a:avLst>
          </a:prstGeom>
          <a:solidFill>
            <a:srgbClr val="F0F9FF"/>
          </a:solidFill>
          <a:ln cap="flat" cmpd="sng" w="9525">
            <a:solidFill>
              <a:srgbClr val="BAE6F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5"/>
          <p:cNvSpPr/>
          <p:nvPr/>
        </p:nvSpPr>
        <p:spPr>
          <a:xfrm>
            <a:off x="4343400" y="2273796"/>
            <a:ext cx="3505200" cy="1555200"/>
          </a:xfrm>
          <a:prstGeom prst="roundRect">
            <a:avLst>
              <a:gd fmla="val 7349" name="adj"/>
            </a:avLst>
          </a:prstGeom>
          <a:solidFill>
            <a:srgbClr val="F0FDF4"/>
          </a:solidFill>
          <a:ln cap="flat" cmpd="sng" w="9525">
            <a:solidFill>
              <a:srgbClr val="BBF7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5"/>
          <p:cNvSpPr/>
          <p:nvPr/>
        </p:nvSpPr>
        <p:spPr>
          <a:xfrm>
            <a:off x="8039100" y="2273796"/>
            <a:ext cx="3505200" cy="1555200"/>
          </a:xfrm>
          <a:prstGeom prst="roundRect">
            <a:avLst>
              <a:gd fmla="val 7349" name="adj"/>
            </a:avLst>
          </a:prstGeom>
          <a:solidFill>
            <a:srgbClr val="FEFCE8"/>
          </a:solidFill>
          <a:ln cap="flat" cmpd="sng" w="9525">
            <a:solidFill>
              <a:srgbClr val="FEF0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5"/>
          <p:cNvSpPr/>
          <p:nvPr/>
        </p:nvSpPr>
        <p:spPr>
          <a:xfrm>
            <a:off x="647700" y="4019550"/>
            <a:ext cx="3505200" cy="1555200"/>
          </a:xfrm>
          <a:prstGeom prst="roundRect">
            <a:avLst>
              <a:gd fmla="val 7349" name="adj"/>
            </a:avLst>
          </a:prstGeom>
          <a:solidFill>
            <a:srgbClr val="FAF5FF"/>
          </a:solidFill>
          <a:ln cap="flat" cmpd="sng" w="9525">
            <a:solidFill>
              <a:srgbClr val="E9D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5"/>
          <p:cNvSpPr/>
          <p:nvPr/>
        </p:nvSpPr>
        <p:spPr>
          <a:xfrm>
            <a:off x="4343400" y="4019550"/>
            <a:ext cx="3505200" cy="1555200"/>
          </a:xfrm>
          <a:prstGeom prst="roundRect">
            <a:avLst>
              <a:gd fmla="val 7349" name="adj"/>
            </a:avLst>
          </a:prstGeom>
          <a:solidFill>
            <a:srgbClr val="FFF1F2"/>
          </a:solidFill>
          <a:ln cap="flat" cmpd="sng" w="9525">
            <a:solidFill>
              <a:srgbClr val="FECDD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15"/>
          <p:cNvSpPr/>
          <p:nvPr/>
        </p:nvSpPr>
        <p:spPr>
          <a:xfrm>
            <a:off x="8039100" y="4019550"/>
            <a:ext cx="3505200" cy="1555200"/>
          </a:xfrm>
          <a:prstGeom prst="roundRect">
            <a:avLst>
              <a:gd fmla="val 7349" name="adj"/>
            </a:avLst>
          </a:prstGeom>
          <a:solidFill>
            <a:srgbClr val="F1F5F9"/>
          </a:solidFill>
          <a:ln cap="flat" cmpd="sng" w="9525">
            <a:solidFill>
              <a:srgbClr val="CBD5E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7" name="Google Shape;117;p15"/>
          <p:cNvPicPr preferRelativeResize="0"/>
          <p:nvPr/>
        </p:nvPicPr>
        <p:blipFill rotWithShape="1">
          <a:blip r:embed="rId3">
            <a:alphaModFix/>
          </a:blip>
          <a:srcRect b="0" l="0" r="0" t="0"/>
          <a:stretch/>
        </p:blipFill>
        <p:spPr>
          <a:xfrm>
            <a:off x="885825" y="2550021"/>
            <a:ext cx="381000" cy="381000"/>
          </a:xfrm>
          <a:prstGeom prst="rect">
            <a:avLst/>
          </a:prstGeom>
          <a:noFill/>
          <a:ln>
            <a:noFill/>
          </a:ln>
        </p:spPr>
      </p:pic>
      <p:pic>
        <p:nvPicPr>
          <p:cNvPr descr="image.png" id="118" name="Google Shape;118;p15"/>
          <p:cNvPicPr preferRelativeResize="0"/>
          <p:nvPr/>
        </p:nvPicPr>
        <p:blipFill rotWithShape="1">
          <a:blip r:embed="rId4">
            <a:alphaModFix/>
          </a:blip>
          <a:srcRect b="0" l="0" r="0" t="0"/>
          <a:stretch/>
        </p:blipFill>
        <p:spPr>
          <a:xfrm>
            <a:off x="4581525" y="2550021"/>
            <a:ext cx="381000" cy="381000"/>
          </a:xfrm>
          <a:prstGeom prst="rect">
            <a:avLst/>
          </a:prstGeom>
          <a:noFill/>
          <a:ln>
            <a:noFill/>
          </a:ln>
        </p:spPr>
      </p:pic>
      <p:pic>
        <p:nvPicPr>
          <p:cNvPr descr="image.png" id="119" name="Google Shape;119;p15"/>
          <p:cNvPicPr preferRelativeResize="0"/>
          <p:nvPr/>
        </p:nvPicPr>
        <p:blipFill rotWithShape="1">
          <a:blip r:embed="rId5">
            <a:alphaModFix/>
          </a:blip>
          <a:srcRect b="0" l="0" r="0" t="0"/>
          <a:stretch/>
        </p:blipFill>
        <p:spPr>
          <a:xfrm>
            <a:off x="8277225" y="2550021"/>
            <a:ext cx="381000" cy="381000"/>
          </a:xfrm>
          <a:prstGeom prst="rect">
            <a:avLst/>
          </a:prstGeom>
          <a:noFill/>
          <a:ln>
            <a:noFill/>
          </a:ln>
        </p:spPr>
      </p:pic>
      <p:pic>
        <p:nvPicPr>
          <p:cNvPr descr="image.png" id="120" name="Google Shape;120;p15"/>
          <p:cNvPicPr preferRelativeResize="0"/>
          <p:nvPr/>
        </p:nvPicPr>
        <p:blipFill rotWithShape="1">
          <a:blip r:embed="rId6">
            <a:alphaModFix/>
          </a:blip>
          <a:srcRect b="0" l="0" r="0" t="0"/>
          <a:stretch/>
        </p:blipFill>
        <p:spPr>
          <a:xfrm>
            <a:off x="885825" y="4295775"/>
            <a:ext cx="381000" cy="381000"/>
          </a:xfrm>
          <a:prstGeom prst="rect">
            <a:avLst/>
          </a:prstGeom>
          <a:noFill/>
          <a:ln>
            <a:noFill/>
          </a:ln>
        </p:spPr>
      </p:pic>
      <p:pic>
        <p:nvPicPr>
          <p:cNvPr descr="image.png" id="121" name="Google Shape;121;p15"/>
          <p:cNvPicPr preferRelativeResize="0"/>
          <p:nvPr/>
        </p:nvPicPr>
        <p:blipFill rotWithShape="1">
          <a:blip r:embed="rId7">
            <a:alphaModFix/>
          </a:blip>
          <a:srcRect b="0" l="0" r="0" t="0"/>
          <a:stretch/>
        </p:blipFill>
        <p:spPr>
          <a:xfrm>
            <a:off x="4581525" y="4295775"/>
            <a:ext cx="381000" cy="381000"/>
          </a:xfrm>
          <a:prstGeom prst="rect">
            <a:avLst/>
          </a:prstGeom>
          <a:noFill/>
          <a:ln>
            <a:noFill/>
          </a:ln>
        </p:spPr>
      </p:pic>
      <p:pic>
        <p:nvPicPr>
          <p:cNvPr descr="image.png" id="122" name="Google Shape;122;p15"/>
          <p:cNvPicPr preferRelativeResize="0"/>
          <p:nvPr/>
        </p:nvPicPr>
        <p:blipFill rotWithShape="1">
          <a:blip r:embed="rId8">
            <a:alphaModFix/>
          </a:blip>
          <a:srcRect b="0" l="0" r="0" t="0"/>
          <a:stretch/>
        </p:blipFill>
        <p:spPr>
          <a:xfrm>
            <a:off x="8277225" y="4295775"/>
            <a:ext cx="381000" cy="381000"/>
          </a:xfrm>
          <a:prstGeom prst="rect">
            <a:avLst/>
          </a:prstGeom>
          <a:noFill/>
          <a:ln>
            <a:noFill/>
          </a:ln>
        </p:spPr>
      </p:pic>
      <p:pic>
        <p:nvPicPr>
          <p:cNvPr descr="image.png" id="123" name="Google Shape;123;p15"/>
          <p:cNvPicPr preferRelativeResize="0"/>
          <p:nvPr/>
        </p:nvPicPr>
        <p:blipFill rotWithShape="1">
          <a:blip r:embed="rId9">
            <a:alphaModFix/>
          </a:blip>
          <a:srcRect b="0" l="0" r="0" t="0"/>
          <a:stretch/>
        </p:blipFill>
        <p:spPr>
          <a:xfrm>
            <a:off x="1000125" y="2654796"/>
            <a:ext cx="152400" cy="171450"/>
          </a:xfrm>
          <a:prstGeom prst="rect">
            <a:avLst/>
          </a:prstGeom>
          <a:noFill/>
          <a:ln>
            <a:noFill/>
          </a:ln>
        </p:spPr>
      </p:pic>
      <p:pic>
        <p:nvPicPr>
          <p:cNvPr descr="image.png" id="124" name="Google Shape;124;p15"/>
          <p:cNvPicPr preferRelativeResize="0"/>
          <p:nvPr/>
        </p:nvPicPr>
        <p:blipFill rotWithShape="1">
          <a:blip r:embed="rId10">
            <a:alphaModFix/>
          </a:blip>
          <a:srcRect b="0" l="0" r="0" t="0"/>
          <a:stretch/>
        </p:blipFill>
        <p:spPr>
          <a:xfrm>
            <a:off x="4676775" y="2654796"/>
            <a:ext cx="190500" cy="171450"/>
          </a:xfrm>
          <a:prstGeom prst="rect">
            <a:avLst/>
          </a:prstGeom>
          <a:noFill/>
          <a:ln>
            <a:noFill/>
          </a:ln>
        </p:spPr>
      </p:pic>
      <p:pic>
        <p:nvPicPr>
          <p:cNvPr descr="image.png" id="125" name="Google Shape;125;p15"/>
          <p:cNvPicPr preferRelativeResize="0"/>
          <p:nvPr/>
        </p:nvPicPr>
        <p:blipFill rotWithShape="1">
          <a:blip r:embed="rId11">
            <a:alphaModFix/>
          </a:blip>
          <a:srcRect b="0" l="0" r="0" t="0"/>
          <a:stretch/>
        </p:blipFill>
        <p:spPr>
          <a:xfrm>
            <a:off x="8382000" y="2654796"/>
            <a:ext cx="171450" cy="171450"/>
          </a:xfrm>
          <a:prstGeom prst="rect">
            <a:avLst/>
          </a:prstGeom>
          <a:noFill/>
          <a:ln>
            <a:noFill/>
          </a:ln>
        </p:spPr>
      </p:pic>
      <p:pic>
        <p:nvPicPr>
          <p:cNvPr descr="image.png" id="126" name="Google Shape;126;p15"/>
          <p:cNvPicPr preferRelativeResize="0"/>
          <p:nvPr/>
        </p:nvPicPr>
        <p:blipFill rotWithShape="1">
          <a:blip r:embed="rId12">
            <a:alphaModFix/>
          </a:blip>
          <a:srcRect b="0" l="0" r="0" t="0"/>
          <a:stretch/>
        </p:blipFill>
        <p:spPr>
          <a:xfrm>
            <a:off x="990600" y="4400550"/>
            <a:ext cx="171450" cy="171450"/>
          </a:xfrm>
          <a:prstGeom prst="rect">
            <a:avLst/>
          </a:prstGeom>
          <a:noFill/>
          <a:ln>
            <a:noFill/>
          </a:ln>
        </p:spPr>
      </p:pic>
      <p:pic>
        <p:nvPicPr>
          <p:cNvPr descr="image.png" id="127" name="Google Shape;127;p15"/>
          <p:cNvPicPr preferRelativeResize="0"/>
          <p:nvPr/>
        </p:nvPicPr>
        <p:blipFill rotWithShape="1">
          <a:blip r:embed="rId13">
            <a:alphaModFix/>
          </a:blip>
          <a:srcRect b="0" l="0" r="0" t="0"/>
          <a:stretch/>
        </p:blipFill>
        <p:spPr>
          <a:xfrm>
            <a:off x="4662487" y="4400550"/>
            <a:ext cx="219075" cy="171450"/>
          </a:xfrm>
          <a:prstGeom prst="rect">
            <a:avLst/>
          </a:prstGeom>
          <a:noFill/>
          <a:ln>
            <a:noFill/>
          </a:ln>
        </p:spPr>
      </p:pic>
      <p:pic>
        <p:nvPicPr>
          <p:cNvPr descr="image.png" id="128" name="Google Shape;128;p15"/>
          <p:cNvPicPr preferRelativeResize="0"/>
          <p:nvPr/>
        </p:nvPicPr>
        <p:blipFill rotWithShape="1">
          <a:blip r:embed="rId14">
            <a:alphaModFix/>
          </a:blip>
          <a:srcRect b="0" l="0" r="0" t="0"/>
          <a:stretch/>
        </p:blipFill>
        <p:spPr>
          <a:xfrm>
            <a:off x="8386762" y="4400550"/>
            <a:ext cx="161925" cy="171450"/>
          </a:xfrm>
          <a:prstGeom prst="rect">
            <a:avLst/>
          </a:prstGeom>
          <a:noFill/>
          <a:ln>
            <a:noFill/>
          </a:ln>
        </p:spPr>
      </p:pic>
      <p:sp>
        <p:nvSpPr>
          <p:cNvPr id="129" name="Google Shape;129;p15"/>
          <p:cNvSpPr txBox="1"/>
          <p:nvPr/>
        </p:nvSpPr>
        <p:spPr>
          <a:xfrm>
            <a:off x="647700" y="752475"/>
            <a:ext cx="11544300" cy="4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2700" u="none" strike="noStrike">
                <a:solidFill>
                  <a:srgbClr val="0F172A"/>
                </a:solidFill>
                <a:latin typeface="Plus Jakarta Sans"/>
                <a:ea typeface="Plus Jakarta Sans"/>
                <a:cs typeface="Plus Jakarta Sans"/>
                <a:sym typeface="Plus Jakarta Sans"/>
              </a:rPr>
              <a:t>What is Summarizing?</a:t>
            </a:r>
            <a:endParaRPr b="1" i="0" sz="2700" u="none" strike="noStrike">
              <a:solidFill>
                <a:srgbClr val="0F172A"/>
              </a:solidFill>
              <a:latin typeface="Plus Jakarta Sans"/>
              <a:ea typeface="Plus Jakarta Sans"/>
              <a:cs typeface="Plus Jakarta Sans"/>
              <a:sym typeface="Plus Jakarta Sans"/>
            </a:endParaRPr>
          </a:p>
        </p:txBody>
      </p:sp>
      <p:sp>
        <p:nvSpPr>
          <p:cNvPr id="130" name="Google Shape;130;p15"/>
          <p:cNvSpPr txBox="1"/>
          <p:nvPr/>
        </p:nvSpPr>
        <p:spPr>
          <a:xfrm>
            <a:off x="885825" y="3064373"/>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0369A1"/>
                </a:solidFill>
                <a:latin typeface="Plus Jakarta Sans"/>
                <a:ea typeface="Plus Jakarta Sans"/>
                <a:cs typeface="Plus Jakarta Sans"/>
                <a:sym typeface="Plus Jakarta Sans"/>
              </a:rPr>
              <a:t>Condenses main arguments without details.</a:t>
            </a:r>
            <a:endParaRPr b="1" i="0" sz="1425" u="none" strike="noStrike">
              <a:solidFill>
                <a:srgbClr val="0369A1"/>
              </a:solidFill>
              <a:latin typeface="Plus Jakarta Sans"/>
              <a:ea typeface="Plus Jakarta Sans"/>
              <a:cs typeface="Plus Jakarta Sans"/>
              <a:sym typeface="Plus Jakarta Sans"/>
            </a:endParaRPr>
          </a:p>
        </p:txBody>
      </p:sp>
      <p:sp>
        <p:nvSpPr>
          <p:cNvPr id="131" name="Google Shape;131;p15"/>
          <p:cNvSpPr txBox="1"/>
          <p:nvPr/>
        </p:nvSpPr>
        <p:spPr>
          <a:xfrm>
            <a:off x="4581525" y="3064373"/>
            <a:ext cx="3124200" cy="21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15803D"/>
                </a:solidFill>
                <a:latin typeface="Plus Jakarta Sans"/>
                <a:ea typeface="Plus Jakarta Sans"/>
                <a:cs typeface="Plus Jakarta Sans"/>
                <a:sym typeface="Plus Jakarta Sans"/>
              </a:rPr>
              <a:t>Significantly reduces initial length.</a:t>
            </a:r>
            <a:endParaRPr b="1" i="0" sz="1425" u="none" strike="noStrike">
              <a:solidFill>
                <a:srgbClr val="15803D"/>
              </a:solidFill>
              <a:latin typeface="Plus Jakarta Sans"/>
              <a:ea typeface="Plus Jakarta Sans"/>
              <a:cs typeface="Plus Jakarta Sans"/>
              <a:sym typeface="Plus Jakarta Sans"/>
            </a:endParaRPr>
          </a:p>
        </p:txBody>
      </p:sp>
      <p:sp>
        <p:nvSpPr>
          <p:cNvPr id="132" name="Google Shape;132;p15"/>
          <p:cNvSpPr txBox="1"/>
          <p:nvPr/>
        </p:nvSpPr>
        <p:spPr>
          <a:xfrm>
            <a:off x="8277225" y="3064373"/>
            <a:ext cx="3124200" cy="21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A16207"/>
                </a:solidFill>
                <a:latin typeface="Plus Jakarta Sans"/>
                <a:ea typeface="Plus Jakarta Sans"/>
                <a:cs typeface="Plus Jakarta Sans"/>
                <a:sym typeface="Plus Jakarta Sans"/>
              </a:rPr>
              <a:t>Captures only the central thesis.</a:t>
            </a:r>
            <a:endParaRPr b="1" i="0" sz="1425" u="none" strike="noStrike">
              <a:solidFill>
                <a:srgbClr val="A16207"/>
              </a:solidFill>
              <a:latin typeface="Plus Jakarta Sans"/>
              <a:ea typeface="Plus Jakarta Sans"/>
              <a:cs typeface="Plus Jakarta Sans"/>
              <a:sym typeface="Plus Jakarta Sans"/>
            </a:endParaRPr>
          </a:p>
        </p:txBody>
      </p:sp>
      <p:sp>
        <p:nvSpPr>
          <p:cNvPr id="133" name="Google Shape;133;p15"/>
          <p:cNvSpPr txBox="1"/>
          <p:nvPr/>
        </p:nvSpPr>
        <p:spPr>
          <a:xfrm>
            <a:off x="885825" y="4810125"/>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7E22CE"/>
                </a:solidFill>
                <a:latin typeface="Plus Jakarta Sans"/>
                <a:ea typeface="Plus Jakarta Sans"/>
                <a:cs typeface="Plus Jakarta Sans"/>
                <a:sym typeface="Plus Jakarta Sans"/>
              </a:rPr>
              <a:t>Eliminates examples and secondary data.</a:t>
            </a:r>
            <a:endParaRPr b="1" i="0" sz="1425" u="none" strike="noStrike">
              <a:solidFill>
                <a:srgbClr val="7E22CE"/>
              </a:solidFill>
              <a:latin typeface="Plus Jakarta Sans"/>
              <a:ea typeface="Plus Jakarta Sans"/>
              <a:cs typeface="Plus Jakarta Sans"/>
              <a:sym typeface="Plus Jakarta Sans"/>
            </a:endParaRPr>
          </a:p>
        </p:txBody>
      </p:sp>
      <p:sp>
        <p:nvSpPr>
          <p:cNvPr id="134" name="Google Shape;134;p15"/>
          <p:cNvSpPr txBox="1"/>
          <p:nvPr/>
        </p:nvSpPr>
        <p:spPr>
          <a:xfrm>
            <a:off x="4581525" y="4810125"/>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BE123C"/>
                </a:solidFill>
                <a:latin typeface="Plus Jakarta Sans"/>
                <a:ea typeface="Plus Jakarta Sans"/>
                <a:cs typeface="Plus Jakarta Sans"/>
                <a:sym typeface="Plus Jakarta Sans"/>
              </a:rPr>
              <a:t>Maintains constant absolute informative neutrality.</a:t>
            </a:r>
            <a:endParaRPr b="1" i="0" sz="1425" u="none" strike="noStrike">
              <a:solidFill>
                <a:srgbClr val="BE123C"/>
              </a:solidFill>
              <a:latin typeface="Plus Jakarta Sans"/>
              <a:ea typeface="Plus Jakarta Sans"/>
              <a:cs typeface="Plus Jakarta Sans"/>
              <a:sym typeface="Plus Jakarta Sans"/>
            </a:endParaRPr>
          </a:p>
        </p:txBody>
      </p:sp>
      <p:sp>
        <p:nvSpPr>
          <p:cNvPr id="135" name="Google Shape;135;p15"/>
          <p:cNvSpPr txBox="1"/>
          <p:nvPr/>
        </p:nvSpPr>
        <p:spPr>
          <a:xfrm>
            <a:off x="8277225" y="4810125"/>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334155"/>
                </a:solidFill>
                <a:latin typeface="Plus Jakarta Sans"/>
                <a:ea typeface="Plus Jakarta Sans"/>
                <a:cs typeface="Plus Jakarta Sans"/>
                <a:sym typeface="Plus Jakarta Sans"/>
              </a:rPr>
              <a:t>Always requires formal bibliographic citation.</a:t>
            </a:r>
            <a:endParaRPr b="1" i="0" sz="1425" u="none" strike="noStrike">
              <a:solidFill>
                <a:srgbClr val="334155"/>
              </a:solidFill>
              <a:latin typeface="Plus Jakarta Sans"/>
              <a:ea typeface="Plus Jakarta Sans"/>
              <a:cs typeface="Plus Jakarta Sans"/>
              <a:sym typeface="Plus Jakart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16"/>
          <p:cNvSpPr txBox="1"/>
          <p:nvPr/>
        </p:nvSpPr>
        <p:spPr>
          <a:xfrm>
            <a:off x="609600" y="457200"/>
            <a:ext cx="11544300" cy="661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2563EB"/>
                </a:solidFill>
                <a:latin typeface="Plus Jakarta Sans"/>
                <a:ea typeface="Plus Jakarta Sans"/>
                <a:cs typeface="Plus Jakarta Sans"/>
                <a:sym typeface="Plus Jakarta Sans"/>
              </a:rPr>
              <a:t>CORE SYNTHESIS METHOD</a:t>
            </a:r>
            <a:endParaRPr b="1" sz="1050">
              <a:solidFill>
                <a:srgbClr val="2563EB"/>
              </a:solidFill>
              <a:latin typeface="Plus Jakarta Sans"/>
              <a:ea typeface="Plus Jakarta Sans"/>
              <a:cs typeface="Plus Jakarta Sans"/>
              <a:sym typeface="Plus Jakarta Sans"/>
            </a:endParaRPr>
          </a:p>
          <a:p>
            <a:pPr indent="0" lvl="0" marL="0" rtl="0" algn="l">
              <a:spcBef>
                <a:spcPts val="300"/>
              </a:spcBef>
              <a:spcAft>
                <a:spcPts val="0"/>
              </a:spcAft>
              <a:buNone/>
            </a:pPr>
            <a:r>
              <a:rPr b="1" lang="en-US" sz="3000">
                <a:solidFill>
                  <a:srgbClr val="0F172A"/>
                </a:solidFill>
                <a:latin typeface="Plus Jakarta Sans"/>
                <a:ea typeface="Plus Jakarta Sans"/>
                <a:cs typeface="Plus Jakarta Sans"/>
                <a:sym typeface="Plus Jakarta Sans"/>
              </a:rPr>
              <a:t>What is Summarizing?</a:t>
            </a:r>
            <a:endParaRPr b="1" sz="3000">
              <a:solidFill>
                <a:srgbClr val="0F172A"/>
              </a:solidFill>
              <a:latin typeface="Plus Jakarta Sans"/>
              <a:ea typeface="Plus Jakarta Sans"/>
              <a:cs typeface="Plus Jakarta Sans"/>
              <a:sym typeface="Plus Jakarta Sans"/>
            </a:endParaRPr>
          </a:p>
        </p:txBody>
      </p:sp>
      <p:grpSp>
        <p:nvGrpSpPr>
          <p:cNvPr id="141" name="Google Shape;141;p16"/>
          <p:cNvGrpSpPr/>
          <p:nvPr/>
        </p:nvGrpSpPr>
        <p:grpSpPr>
          <a:xfrm>
            <a:off x="609600" y="1666875"/>
            <a:ext cx="10972725" cy="4381500"/>
            <a:chOff x="609600" y="1666875"/>
            <a:chExt cx="10972725" cy="4381500"/>
          </a:xfrm>
        </p:grpSpPr>
        <p:sp>
          <p:nvSpPr>
            <p:cNvPr id="142" name="Google Shape;142;p16"/>
            <p:cNvSpPr/>
            <p:nvPr/>
          </p:nvSpPr>
          <p:spPr>
            <a:xfrm>
              <a:off x="609600" y="1666875"/>
              <a:ext cx="5534100" cy="4381500"/>
            </a:xfrm>
            <a:prstGeom prst="roundRect">
              <a:avLst>
                <a:gd fmla="val 4347"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3" name="Google Shape;143;p16"/>
            <p:cNvPicPr preferRelativeResize="0"/>
            <p:nvPr/>
          </p:nvPicPr>
          <p:blipFill rotWithShape="1">
            <a:blip r:embed="rId3">
              <a:alphaModFix/>
            </a:blip>
            <a:srcRect b="0" l="0" r="0" t="0"/>
            <a:stretch/>
          </p:blipFill>
          <p:spPr>
            <a:xfrm>
              <a:off x="3362325" y="2714625"/>
              <a:ext cx="19200" cy="419100"/>
            </a:xfrm>
            <a:prstGeom prst="rect">
              <a:avLst/>
            </a:prstGeom>
            <a:noFill/>
            <a:ln>
              <a:noFill/>
            </a:ln>
          </p:spPr>
        </p:pic>
        <p:pic>
          <p:nvPicPr>
            <p:cNvPr id="144" name="Google Shape;144;p16"/>
            <p:cNvPicPr preferRelativeResize="0"/>
            <p:nvPr/>
          </p:nvPicPr>
          <p:blipFill rotWithShape="1">
            <a:blip r:embed="rId3">
              <a:alphaModFix/>
            </a:blip>
            <a:srcRect b="0" l="0" r="0" t="0"/>
            <a:stretch/>
          </p:blipFill>
          <p:spPr>
            <a:xfrm>
              <a:off x="3362325" y="4572000"/>
              <a:ext cx="19200" cy="419100"/>
            </a:xfrm>
            <a:prstGeom prst="rect">
              <a:avLst/>
            </a:prstGeom>
            <a:noFill/>
            <a:ln>
              <a:noFill/>
            </a:ln>
          </p:spPr>
        </p:pic>
        <p:pic>
          <p:nvPicPr>
            <p:cNvPr id="145" name="Google Shape;145;p16"/>
            <p:cNvPicPr preferRelativeResize="0"/>
            <p:nvPr/>
          </p:nvPicPr>
          <p:blipFill rotWithShape="1">
            <a:blip r:embed="rId4">
              <a:alphaModFix/>
            </a:blip>
            <a:srcRect b="0" l="0" r="0" t="0"/>
            <a:stretch/>
          </p:blipFill>
          <p:spPr>
            <a:xfrm>
              <a:off x="2286000" y="3848100"/>
              <a:ext cx="266700" cy="19200"/>
            </a:xfrm>
            <a:prstGeom prst="rect">
              <a:avLst/>
            </a:prstGeom>
            <a:noFill/>
            <a:ln>
              <a:noFill/>
            </a:ln>
          </p:spPr>
        </p:pic>
        <p:pic>
          <p:nvPicPr>
            <p:cNvPr id="146" name="Google Shape;146;p16"/>
            <p:cNvPicPr preferRelativeResize="0"/>
            <p:nvPr/>
          </p:nvPicPr>
          <p:blipFill rotWithShape="1">
            <a:blip r:embed="rId4">
              <a:alphaModFix/>
            </a:blip>
            <a:srcRect b="0" l="0" r="0" t="0"/>
            <a:stretch/>
          </p:blipFill>
          <p:spPr>
            <a:xfrm>
              <a:off x="4171950" y="3848100"/>
              <a:ext cx="266700" cy="19200"/>
            </a:xfrm>
            <a:prstGeom prst="rect">
              <a:avLst/>
            </a:prstGeom>
            <a:noFill/>
            <a:ln>
              <a:noFill/>
            </a:ln>
          </p:spPr>
        </p:pic>
        <p:grpSp>
          <p:nvGrpSpPr>
            <p:cNvPr id="147" name="Google Shape;147;p16"/>
            <p:cNvGrpSpPr/>
            <p:nvPr/>
          </p:nvGrpSpPr>
          <p:grpSpPr>
            <a:xfrm>
              <a:off x="2438400" y="2381250"/>
              <a:ext cx="1866900" cy="362100"/>
              <a:chOff x="0" y="0"/>
              <a:chExt cx="1866900" cy="362100"/>
            </a:xfrm>
          </p:grpSpPr>
          <p:sp>
            <p:nvSpPr>
              <p:cNvPr id="148" name="Google Shape;148;p16"/>
              <p:cNvSpPr/>
              <p:nvPr/>
            </p:nvSpPr>
            <p:spPr>
              <a:xfrm>
                <a:off x="0" y="0"/>
                <a:ext cx="1866900" cy="362100"/>
              </a:xfrm>
              <a:prstGeom prst="roundRect">
                <a:avLst>
                  <a:gd fmla="val 500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6"/>
              <p:cNvSpPr txBox="1"/>
              <p:nvPr/>
            </p:nvSpPr>
            <p:spPr>
              <a:xfrm>
                <a:off x="0" y="0"/>
                <a:ext cx="18669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0F172A"/>
                    </a:solidFill>
                    <a:latin typeface="Inter"/>
                    <a:ea typeface="Inter"/>
                    <a:cs typeface="Inter"/>
                    <a:sym typeface="Inter"/>
                  </a:rPr>
                  <a:t>SECONDARY DATA</a:t>
                </a:r>
                <a:endParaRPr b="1" sz="1000">
                  <a:solidFill>
                    <a:srgbClr val="0F172A"/>
                  </a:solidFill>
                  <a:latin typeface="Inter"/>
                  <a:ea typeface="Inter"/>
                  <a:cs typeface="Inter"/>
                  <a:sym typeface="Inter"/>
                </a:endParaRPr>
              </a:p>
            </p:txBody>
          </p:sp>
        </p:grpSp>
        <p:grpSp>
          <p:nvGrpSpPr>
            <p:cNvPr id="150" name="Google Shape;150;p16"/>
            <p:cNvGrpSpPr/>
            <p:nvPr/>
          </p:nvGrpSpPr>
          <p:grpSpPr>
            <a:xfrm>
              <a:off x="2438400" y="4953000"/>
              <a:ext cx="1866900" cy="362100"/>
              <a:chOff x="0" y="0"/>
              <a:chExt cx="1866900" cy="362100"/>
            </a:xfrm>
          </p:grpSpPr>
          <p:sp>
            <p:nvSpPr>
              <p:cNvPr id="151" name="Google Shape;151;p16"/>
              <p:cNvSpPr/>
              <p:nvPr/>
            </p:nvSpPr>
            <p:spPr>
              <a:xfrm>
                <a:off x="0" y="0"/>
                <a:ext cx="1866900" cy="362100"/>
              </a:xfrm>
              <a:prstGeom prst="roundRect">
                <a:avLst>
                  <a:gd fmla="val 500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6"/>
              <p:cNvSpPr txBox="1"/>
              <p:nvPr/>
            </p:nvSpPr>
            <p:spPr>
              <a:xfrm>
                <a:off x="0" y="0"/>
                <a:ext cx="18669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0F172A"/>
                    </a:solidFill>
                    <a:latin typeface="Inter"/>
                    <a:ea typeface="Inter"/>
                    <a:cs typeface="Inter"/>
                    <a:sym typeface="Inter"/>
                  </a:rPr>
                  <a:t>SECONDARY DATA</a:t>
                </a:r>
                <a:endParaRPr b="1" sz="1000">
                  <a:solidFill>
                    <a:srgbClr val="0F172A"/>
                  </a:solidFill>
                  <a:latin typeface="Inter"/>
                  <a:ea typeface="Inter"/>
                  <a:cs typeface="Inter"/>
                  <a:sym typeface="Inter"/>
                </a:endParaRPr>
              </a:p>
            </p:txBody>
          </p:sp>
        </p:grpSp>
        <p:grpSp>
          <p:nvGrpSpPr>
            <p:cNvPr id="153" name="Google Shape;153;p16"/>
            <p:cNvGrpSpPr/>
            <p:nvPr/>
          </p:nvGrpSpPr>
          <p:grpSpPr>
            <a:xfrm>
              <a:off x="904875" y="3590925"/>
              <a:ext cx="1381200" cy="533400"/>
              <a:chOff x="0" y="0"/>
              <a:chExt cx="1381200" cy="533400"/>
            </a:xfrm>
          </p:grpSpPr>
          <p:sp>
            <p:nvSpPr>
              <p:cNvPr id="154" name="Google Shape;154;p16"/>
              <p:cNvSpPr/>
              <p:nvPr/>
            </p:nvSpPr>
            <p:spPr>
              <a:xfrm>
                <a:off x="0" y="0"/>
                <a:ext cx="1381200" cy="533400"/>
              </a:xfrm>
              <a:prstGeom prst="roundRect">
                <a:avLst>
                  <a:gd fmla="val 500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6"/>
              <p:cNvSpPr txBox="1"/>
              <p:nvPr/>
            </p:nvSpPr>
            <p:spPr>
              <a:xfrm>
                <a:off x="0" y="0"/>
                <a:ext cx="1381200" cy="533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0F172A"/>
                    </a:solidFill>
                    <a:latin typeface="Inter"/>
                    <a:ea typeface="Inter"/>
                    <a:cs typeface="Inter"/>
                    <a:sym typeface="Inter"/>
                  </a:rPr>
                  <a:t>SECONDARY DATA</a:t>
                </a:r>
                <a:endParaRPr b="1" sz="1000">
                  <a:solidFill>
                    <a:srgbClr val="0F172A"/>
                  </a:solidFill>
                  <a:latin typeface="Inter"/>
                  <a:ea typeface="Inter"/>
                  <a:cs typeface="Inter"/>
                  <a:sym typeface="Inter"/>
                </a:endParaRPr>
              </a:p>
            </p:txBody>
          </p:sp>
        </p:grpSp>
        <p:grpSp>
          <p:nvGrpSpPr>
            <p:cNvPr id="156" name="Google Shape;156;p16"/>
            <p:cNvGrpSpPr/>
            <p:nvPr/>
          </p:nvGrpSpPr>
          <p:grpSpPr>
            <a:xfrm>
              <a:off x="4457700" y="3590925"/>
              <a:ext cx="1381200" cy="533400"/>
              <a:chOff x="0" y="0"/>
              <a:chExt cx="1381200" cy="533400"/>
            </a:xfrm>
          </p:grpSpPr>
          <p:sp>
            <p:nvSpPr>
              <p:cNvPr id="157" name="Google Shape;157;p16"/>
              <p:cNvSpPr/>
              <p:nvPr/>
            </p:nvSpPr>
            <p:spPr>
              <a:xfrm>
                <a:off x="0" y="0"/>
                <a:ext cx="1381200" cy="533400"/>
              </a:xfrm>
              <a:prstGeom prst="roundRect">
                <a:avLst>
                  <a:gd fmla="val 500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6"/>
              <p:cNvSpPr txBox="1"/>
              <p:nvPr/>
            </p:nvSpPr>
            <p:spPr>
              <a:xfrm>
                <a:off x="0" y="0"/>
                <a:ext cx="1381200" cy="533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0F172A"/>
                    </a:solidFill>
                    <a:latin typeface="Inter"/>
                    <a:ea typeface="Inter"/>
                    <a:cs typeface="Inter"/>
                    <a:sym typeface="Inter"/>
                  </a:rPr>
                  <a:t>SECONDARY DATA</a:t>
                </a:r>
                <a:endParaRPr b="1" sz="1000">
                  <a:solidFill>
                    <a:srgbClr val="0F172A"/>
                  </a:solidFill>
                  <a:latin typeface="Inter"/>
                  <a:ea typeface="Inter"/>
                  <a:cs typeface="Inter"/>
                  <a:sym typeface="Inter"/>
                </a:endParaRPr>
              </a:p>
            </p:txBody>
          </p:sp>
        </p:grpSp>
        <p:grpSp>
          <p:nvGrpSpPr>
            <p:cNvPr id="159" name="Google Shape;159;p16"/>
            <p:cNvGrpSpPr/>
            <p:nvPr/>
          </p:nvGrpSpPr>
          <p:grpSpPr>
            <a:xfrm>
              <a:off x="2571750" y="3248025"/>
              <a:ext cx="1600200" cy="1219200"/>
              <a:chOff x="0" y="0"/>
              <a:chExt cx="1600200" cy="1219200"/>
            </a:xfrm>
          </p:grpSpPr>
          <p:sp>
            <p:nvSpPr>
              <p:cNvPr id="160" name="Google Shape;160;p16"/>
              <p:cNvSpPr/>
              <p:nvPr/>
            </p:nvSpPr>
            <p:spPr>
              <a:xfrm>
                <a:off x="0" y="0"/>
                <a:ext cx="1600200" cy="1219200"/>
              </a:xfrm>
              <a:prstGeom prst="roundRect">
                <a:avLst>
                  <a:gd fmla="val 125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 name="Google Shape;161;p16"/>
              <p:cNvSpPr txBox="1"/>
              <p:nvPr/>
            </p:nvSpPr>
            <p:spPr>
              <a:xfrm>
                <a:off x="0" y="0"/>
                <a:ext cx="1600200" cy="12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400">
                    <a:solidFill>
                      <a:srgbClr val="FFFFFF"/>
                    </a:solidFill>
                    <a:latin typeface="Material Icons"/>
                    <a:ea typeface="Material Icons"/>
                    <a:cs typeface="Material Icons"/>
                    <a:sym typeface="Material Icons"/>
                  </a:rPr>
                  <a:t>center_focus_strong</a:t>
                </a:r>
                <a:endParaRPr b="1" sz="1400">
                  <a:solidFill>
                    <a:srgbClr val="FFFFFF"/>
                  </a:solidFill>
                  <a:latin typeface="Plus Jakarta Sans"/>
                  <a:ea typeface="Plus Jakarta Sans"/>
                  <a:cs typeface="Plus Jakarta Sans"/>
                  <a:sym typeface="Plus Jakarta Sans"/>
                </a:endParaRPr>
              </a:p>
              <a:p>
                <a:pPr indent="0" lvl="0" marL="0" rtl="0" algn="ctr">
                  <a:spcBef>
                    <a:spcPts val="0"/>
                  </a:spcBef>
                  <a:spcAft>
                    <a:spcPts val="0"/>
                  </a:spcAft>
                  <a:buNone/>
                </a:pPr>
                <a:r>
                  <a:rPr b="1" lang="en-US" sz="1400">
                    <a:solidFill>
                      <a:srgbClr val="FFFFFF"/>
                    </a:solidFill>
                    <a:latin typeface="Plus Jakarta Sans"/>
                    <a:ea typeface="Plus Jakarta Sans"/>
                    <a:cs typeface="Plus Jakarta Sans"/>
                    <a:sym typeface="Plus Jakarta Sans"/>
                  </a:rPr>
                  <a:t>CENTRAL THESIS</a:t>
                </a:r>
                <a:endParaRPr b="1" sz="1400">
                  <a:solidFill>
                    <a:srgbClr val="FFFFFF"/>
                  </a:solidFill>
                  <a:latin typeface="Plus Jakarta Sans"/>
                  <a:ea typeface="Plus Jakarta Sans"/>
                  <a:cs typeface="Plus Jakarta Sans"/>
                  <a:sym typeface="Plus Jakarta Sans"/>
                </a:endParaRPr>
              </a:p>
            </p:txBody>
          </p:sp>
        </p:grpSp>
        <p:grpSp>
          <p:nvGrpSpPr>
            <p:cNvPr id="162" name="Google Shape;162;p16"/>
            <p:cNvGrpSpPr/>
            <p:nvPr/>
          </p:nvGrpSpPr>
          <p:grpSpPr>
            <a:xfrm>
              <a:off x="6524625" y="1666875"/>
              <a:ext cx="5057700" cy="1285800"/>
              <a:chOff x="0" y="0"/>
              <a:chExt cx="5057700" cy="1285800"/>
            </a:xfrm>
          </p:grpSpPr>
          <p:sp>
            <p:nvSpPr>
              <p:cNvPr id="163" name="Google Shape;163;p16"/>
              <p:cNvSpPr/>
              <p:nvPr/>
            </p:nvSpPr>
            <p:spPr>
              <a:xfrm>
                <a:off x="0" y="0"/>
                <a:ext cx="5057700" cy="1285800"/>
              </a:xfrm>
              <a:prstGeom prst="roundRect">
                <a:avLst>
                  <a:gd fmla="val 8888"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6"/>
              <p:cNvSpPr/>
              <p:nvPr/>
            </p:nvSpPr>
            <p:spPr>
              <a:xfrm>
                <a:off x="0" y="0"/>
                <a:ext cx="57300" cy="12858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6"/>
              <p:cNvSpPr/>
              <p:nvPr/>
            </p:nvSpPr>
            <p:spPr>
              <a:xfrm>
                <a:off x="228600" y="228600"/>
                <a:ext cx="419100" cy="419100"/>
              </a:xfrm>
              <a:prstGeom prst="roundRect">
                <a:avLst>
                  <a:gd fmla="val 2272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6"/>
              <p:cNvSpPr txBox="1"/>
              <p:nvPr/>
            </p:nvSpPr>
            <p:spPr>
              <a:xfrm>
                <a:off x="228600" y="25781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adjust</a:t>
                </a:r>
                <a:endParaRPr sz="2000">
                  <a:solidFill>
                    <a:srgbClr val="2563EB"/>
                  </a:solidFill>
                  <a:latin typeface="Material Icons"/>
                  <a:ea typeface="Material Icons"/>
                  <a:cs typeface="Material Icons"/>
                  <a:sym typeface="Material Icons"/>
                </a:endParaRPr>
              </a:p>
            </p:txBody>
          </p:sp>
          <p:sp>
            <p:nvSpPr>
              <p:cNvPr id="167" name="Google Shape;167;p16"/>
              <p:cNvSpPr txBox="1"/>
              <p:nvPr/>
            </p:nvSpPr>
            <p:spPr>
              <a:xfrm>
                <a:off x="800100" y="190500"/>
                <a:ext cx="40290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E3A8A"/>
                    </a:solidFill>
                    <a:latin typeface="Plus Jakarta Sans"/>
                    <a:ea typeface="Plus Jakarta Sans"/>
                    <a:cs typeface="Plus Jakarta Sans"/>
                    <a:sym typeface="Plus Jakarta Sans"/>
                  </a:rPr>
                  <a:t>Thesis Focus</a:t>
                </a:r>
                <a:endParaRPr b="1" sz="1400">
                  <a:solidFill>
                    <a:srgbClr val="1E3A8A"/>
                  </a:solidFill>
                  <a:latin typeface="Plus Jakarta Sans"/>
                  <a:ea typeface="Plus Jakarta Sans"/>
                  <a:cs typeface="Plus Jakarta Sans"/>
                  <a:sym typeface="Plus Jakarta Sans"/>
                </a:endParaRPr>
              </a:p>
              <a:p>
                <a:pPr indent="0" lvl="0" marL="0" rtl="0" algn="l">
                  <a:spcBef>
                    <a:spcPts val="450"/>
                  </a:spcBef>
                  <a:spcAft>
                    <a:spcPts val="0"/>
                  </a:spcAft>
                  <a:buNone/>
                </a:pPr>
                <a:r>
                  <a:rPr b="0" lang="en-US" sz="1100">
                    <a:solidFill>
                      <a:srgbClr val="1E40AF"/>
                    </a:solidFill>
                    <a:latin typeface="Inter"/>
                    <a:ea typeface="Inter"/>
                    <a:cs typeface="Inter"/>
                    <a:sym typeface="Inter"/>
                  </a:rPr>
                  <a:t>Condense main arguments and capture the central thesis directly.</a:t>
                </a:r>
                <a:endParaRPr b="0" sz="1100">
                  <a:solidFill>
                    <a:srgbClr val="1E40AF"/>
                  </a:solidFill>
                  <a:latin typeface="Inter"/>
                  <a:ea typeface="Inter"/>
                  <a:cs typeface="Inter"/>
                  <a:sym typeface="Inter"/>
                </a:endParaRPr>
              </a:p>
            </p:txBody>
          </p:sp>
        </p:grpSp>
        <p:grpSp>
          <p:nvGrpSpPr>
            <p:cNvPr id="168" name="Google Shape;168;p16"/>
            <p:cNvGrpSpPr/>
            <p:nvPr/>
          </p:nvGrpSpPr>
          <p:grpSpPr>
            <a:xfrm>
              <a:off x="6524625" y="3209925"/>
              <a:ext cx="5057700" cy="1285800"/>
              <a:chOff x="0" y="0"/>
              <a:chExt cx="5057700" cy="1285800"/>
            </a:xfrm>
          </p:grpSpPr>
          <p:sp>
            <p:nvSpPr>
              <p:cNvPr id="169" name="Google Shape;169;p16"/>
              <p:cNvSpPr/>
              <p:nvPr/>
            </p:nvSpPr>
            <p:spPr>
              <a:xfrm>
                <a:off x="0" y="0"/>
                <a:ext cx="5057700" cy="1285800"/>
              </a:xfrm>
              <a:prstGeom prst="roundRect">
                <a:avLst>
                  <a:gd fmla="val 8888" name="adj"/>
                </a:avLst>
              </a:prstGeom>
              <a:solidFill>
                <a:srgbClr val="FAF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6"/>
              <p:cNvSpPr/>
              <p:nvPr/>
            </p:nvSpPr>
            <p:spPr>
              <a:xfrm>
                <a:off x="0" y="0"/>
                <a:ext cx="57300" cy="1285800"/>
              </a:xfrm>
              <a:prstGeom prst="roundRect">
                <a:avLst>
                  <a:gd fmla="val 50000" name="adj"/>
                </a:avLst>
              </a:prstGeom>
              <a:solidFill>
                <a:srgbClr val="9333E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6"/>
              <p:cNvSpPr/>
              <p:nvPr/>
            </p:nvSpPr>
            <p:spPr>
              <a:xfrm>
                <a:off x="228600" y="228600"/>
                <a:ext cx="419100" cy="419100"/>
              </a:xfrm>
              <a:prstGeom prst="roundRect">
                <a:avLst>
                  <a:gd fmla="val 22727"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6"/>
              <p:cNvSpPr txBox="1"/>
              <p:nvPr/>
            </p:nvSpPr>
            <p:spPr>
              <a:xfrm>
                <a:off x="228600" y="25781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9333EA"/>
                    </a:solidFill>
                    <a:latin typeface="Material Icons"/>
                    <a:ea typeface="Material Icons"/>
                    <a:cs typeface="Material Icons"/>
                    <a:sym typeface="Material Icons"/>
                  </a:rPr>
                  <a:t>filter_alt</a:t>
                </a:r>
                <a:endParaRPr sz="2000">
                  <a:solidFill>
                    <a:srgbClr val="9333EA"/>
                  </a:solidFill>
                  <a:latin typeface="Material Icons"/>
                  <a:ea typeface="Material Icons"/>
                  <a:cs typeface="Material Icons"/>
                  <a:sym typeface="Material Icons"/>
                </a:endParaRPr>
              </a:p>
            </p:txBody>
          </p:sp>
          <p:sp>
            <p:nvSpPr>
              <p:cNvPr id="173" name="Google Shape;173;p16"/>
              <p:cNvSpPr txBox="1"/>
              <p:nvPr/>
            </p:nvSpPr>
            <p:spPr>
              <a:xfrm>
                <a:off x="800100" y="190500"/>
                <a:ext cx="40290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581C87"/>
                    </a:solidFill>
                    <a:latin typeface="Plus Jakarta Sans"/>
                    <a:ea typeface="Plus Jakarta Sans"/>
                    <a:cs typeface="Plus Jakarta Sans"/>
                    <a:sym typeface="Plus Jakarta Sans"/>
                  </a:rPr>
                  <a:t>Content Pruning</a:t>
                </a:r>
                <a:endParaRPr b="1" sz="1400">
                  <a:solidFill>
                    <a:srgbClr val="581C87"/>
                  </a:solidFill>
                  <a:latin typeface="Plus Jakarta Sans"/>
                  <a:ea typeface="Plus Jakarta Sans"/>
                  <a:cs typeface="Plus Jakarta Sans"/>
                  <a:sym typeface="Plus Jakarta Sans"/>
                </a:endParaRPr>
              </a:p>
              <a:p>
                <a:pPr indent="0" lvl="0" marL="0" rtl="0" algn="l">
                  <a:spcBef>
                    <a:spcPts val="450"/>
                  </a:spcBef>
                  <a:spcAft>
                    <a:spcPts val="0"/>
                  </a:spcAft>
                  <a:buNone/>
                </a:pPr>
                <a:r>
                  <a:rPr b="0" lang="en-US" sz="1100">
                    <a:solidFill>
                      <a:srgbClr val="6B21A8"/>
                    </a:solidFill>
                    <a:latin typeface="Inter"/>
                    <a:ea typeface="Inter"/>
                    <a:cs typeface="Inter"/>
                    <a:sym typeface="Inter"/>
                  </a:rPr>
                  <a:t>Eliminate specific examples, secondary data, and reduce initial length.</a:t>
                </a:r>
                <a:endParaRPr b="0" sz="1100">
                  <a:solidFill>
                    <a:srgbClr val="6B21A8"/>
                  </a:solidFill>
                  <a:latin typeface="Inter"/>
                  <a:ea typeface="Inter"/>
                  <a:cs typeface="Inter"/>
                  <a:sym typeface="Inter"/>
                </a:endParaRPr>
              </a:p>
            </p:txBody>
          </p:sp>
        </p:grpSp>
        <p:grpSp>
          <p:nvGrpSpPr>
            <p:cNvPr id="174" name="Google Shape;174;p16"/>
            <p:cNvGrpSpPr/>
            <p:nvPr/>
          </p:nvGrpSpPr>
          <p:grpSpPr>
            <a:xfrm>
              <a:off x="6524625" y="4762500"/>
              <a:ext cx="5057700" cy="1285800"/>
              <a:chOff x="0" y="0"/>
              <a:chExt cx="5057700" cy="1285800"/>
            </a:xfrm>
          </p:grpSpPr>
          <p:sp>
            <p:nvSpPr>
              <p:cNvPr id="175" name="Google Shape;175;p16"/>
              <p:cNvSpPr/>
              <p:nvPr/>
            </p:nvSpPr>
            <p:spPr>
              <a:xfrm>
                <a:off x="0" y="0"/>
                <a:ext cx="5057700" cy="1285800"/>
              </a:xfrm>
              <a:prstGeom prst="roundRect">
                <a:avLst>
                  <a:gd fmla="val 8888" name="adj"/>
                </a:avLst>
              </a:prstGeom>
              <a:solidFill>
                <a:srgbClr val="FFF1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6"/>
              <p:cNvSpPr/>
              <p:nvPr/>
            </p:nvSpPr>
            <p:spPr>
              <a:xfrm>
                <a:off x="0" y="0"/>
                <a:ext cx="57300" cy="1285800"/>
              </a:xfrm>
              <a:prstGeom prst="roundRect">
                <a:avLst>
                  <a:gd fmla="val 50000" name="adj"/>
                </a:avLst>
              </a:prstGeom>
              <a:solidFill>
                <a:srgbClr val="E11D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6"/>
              <p:cNvSpPr/>
              <p:nvPr/>
            </p:nvSpPr>
            <p:spPr>
              <a:xfrm>
                <a:off x="228600" y="228600"/>
                <a:ext cx="419100" cy="419100"/>
              </a:xfrm>
              <a:prstGeom prst="roundRect">
                <a:avLst>
                  <a:gd fmla="val 22727" name="adj"/>
                </a:avLst>
              </a:prstGeom>
              <a:solidFill>
                <a:srgbClr val="FFE4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16"/>
              <p:cNvSpPr txBox="1"/>
              <p:nvPr/>
            </p:nvSpPr>
            <p:spPr>
              <a:xfrm>
                <a:off x="228600" y="25781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E11D48"/>
                    </a:solidFill>
                    <a:latin typeface="Material Icons"/>
                    <a:ea typeface="Material Icons"/>
                    <a:cs typeface="Material Icons"/>
                    <a:sym typeface="Material Icons"/>
                  </a:rPr>
                  <a:t>gavel</a:t>
                </a:r>
                <a:endParaRPr sz="2000">
                  <a:solidFill>
                    <a:srgbClr val="E11D48"/>
                  </a:solidFill>
                  <a:latin typeface="Material Icons"/>
                  <a:ea typeface="Material Icons"/>
                  <a:cs typeface="Material Icons"/>
                  <a:sym typeface="Material Icons"/>
                </a:endParaRPr>
              </a:p>
            </p:txBody>
          </p:sp>
          <p:sp>
            <p:nvSpPr>
              <p:cNvPr id="179" name="Google Shape;179;p16"/>
              <p:cNvSpPr txBox="1"/>
              <p:nvPr/>
            </p:nvSpPr>
            <p:spPr>
              <a:xfrm>
                <a:off x="800100" y="190500"/>
                <a:ext cx="40290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881337"/>
                    </a:solidFill>
                    <a:latin typeface="Plus Jakarta Sans"/>
                    <a:ea typeface="Plus Jakarta Sans"/>
                    <a:cs typeface="Plus Jakarta Sans"/>
                    <a:sym typeface="Plus Jakarta Sans"/>
                  </a:rPr>
                  <a:t>Objective Integrity</a:t>
                </a:r>
                <a:endParaRPr b="1" sz="1400">
                  <a:solidFill>
                    <a:srgbClr val="881337"/>
                  </a:solidFill>
                  <a:latin typeface="Plus Jakarta Sans"/>
                  <a:ea typeface="Plus Jakarta Sans"/>
                  <a:cs typeface="Plus Jakarta Sans"/>
                  <a:sym typeface="Plus Jakarta Sans"/>
                </a:endParaRPr>
              </a:p>
              <a:p>
                <a:pPr indent="0" lvl="0" marL="0" rtl="0" algn="l">
                  <a:spcBef>
                    <a:spcPts val="450"/>
                  </a:spcBef>
                  <a:spcAft>
                    <a:spcPts val="0"/>
                  </a:spcAft>
                  <a:buNone/>
                </a:pPr>
                <a:r>
                  <a:rPr b="0" lang="en-US" sz="1100">
                    <a:solidFill>
                      <a:srgbClr val="9F1239"/>
                    </a:solidFill>
                    <a:latin typeface="Inter"/>
                    <a:ea typeface="Inter"/>
                    <a:cs typeface="Inter"/>
                    <a:sym typeface="Inter"/>
                  </a:rPr>
                  <a:t>Maintain absolute neutrality and include formal bibliographic citations.</a:t>
                </a:r>
                <a:endParaRPr b="0" sz="1100">
                  <a:solidFill>
                    <a:srgbClr val="9F1239"/>
                  </a:solidFill>
                  <a:latin typeface="Inter"/>
                  <a:ea typeface="Inter"/>
                  <a:cs typeface="Inter"/>
                  <a:sym typeface="Inte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3" name="Shape 183"/>
        <p:cNvGrpSpPr/>
        <p:nvPr/>
      </p:nvGrpSpPr>
      <p:grpSpPr>
        <a:xfrm>
          <a:off x="0" y="0"/>
          <a:ext cx="0" cy="0"/>
          <a:chOff x="0" y="0"/>
          <a:chExt cx="0" cy="0"/>
        </a:xfrm>
      </p:grpSpPr>
      <p:sp>
        <p:nvSpPr>
          <p:cNvPr id="184" name="Google Shape;184;p17"/>
          <p:cNvSpPr txBox="1"/>
          <p:nvPr/>
        </p:nvSpPr>
        <p:spPr>
          <a:xfrm>
            <a:off x="647700" y="752475"/>
            <a:ext cx="11544300" cy="4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0F172A"/>
                </a:solidFill>
                <a:latin typeface="Plus Jakarta Sans"/>
                <a:ea typeface="Plus Jakarta Sans"/>
                <a:cs typeface="Plus Jakarta Sans"/>
                <a:sym typeface="Plus Jakarta Sans"/>
              </a:rPr>
              <a:t>Examples of Summarizing Techniques</a:t>
            </a:r>
            <a:endParaRPr b="1" sz="2400">
              <a:solidFill>
                <a:srgbClr val="0F172A"/>
              </a:solidFill>
              <a:latin typeface="Plus Jakarta Sans"/>
              <a:ea typeface="Plus Jakarta Sans"/>
              <a:cs typeface="Plus Jakarta Sans"/>
              <a:sym typeface="Plus Jakarta Sans"/>
            </a:endParaRPr>
          </a:p>
        </p:txBody>
      </p:sp>
      <p:grpSp>
        <p:nvGrpSpPr>
          <p:cNvPr id="185" name="Google Shape;185;p17"/>
          <p:cNvGrpSpPr/>
          <p:nvPr/>
        </p:nvGrpSpPr>
        <p:grpSpPr>
          <a:xfrm>
            <a:off x="647700" y="1714500"/>
            <a:ext cx="3505200" cy="2095500"/>
            <a:chOff x="0" y="0"/>
            <a:chExt cx="3505200" cy="2095500"/>
          </a:xfrm>
        </p:grpSpPr>
        <p:sp>
          <p:nvSpPr>
            <p:cNvPr id="186" name="Google Shape;186;p17"/>
            <p:cNvSpPr/>
            <p:nvPr/>
          </p:nvSpPr>
          <p:spPr>
            <a:xfrm>
              <a:off x="0" y="0"/>
              <a:ext cx="3505200" cy="2095500"/>
            </a:xfrm>
            <a:prstGeom prst="roundRect">
              <a:avLst>
                <a:gd fmla="val 5454"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7"/>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369A1"/>
                  </a:solidFill>
                  <a:latin typeface="Plus Jakarta Sans"/>
                  <a:ea typeface="Plus Jakarta Sans"/>
                  <a:cs typeface="Plus Jakarta Sans"/>
                  <a:sym typeface="Plus Jakarta Sans"/>
                </a:rPr>
                <a:t>1. CONDENSE MAIN ARGUMENTS</a:t>
              </a:r>
              <a:endParaRPr b="1" sz="1100">
                <a:solidFill>
                  <a:srgbClr val="0369A1"/>
                </a:solidFill>
                <a:latin typeface="Plus Jakarta Sans"/>
                <a:ea typeface="Plus Jakarta Sans"/>
                <a:cs typeface="Plus Jakarta Sans"/>
                <a:sym typeface="Plus Jakarta Sans"/>
              </a:endParaRPr>
            </a:p>
          </p:txBody>
        </p:sp>
        <p:sp>
          <p:nvSpPr>
            <p:cNvPr id="188" name="Google Shape;188;p17"/>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a:t>
              </a:r>
              <a:r>
                <a:rPr b="0" lang="en-US" sz="1200">
                  <a:solidFill>
                    <a:srgbClr val="334155"/>
                  </a:solidFill>
                  <a:latin typeface="Plus Jakarta Sans"/>
                  <a:ea typeface="Plus Jakarta Sans"/>
                  <a:cs typeface="Plus Jakarta Sans"/>
                  <a:sym typeface="Plus Jakarta Sans"/>
                </a:rPr>
                <a:t> Climate change affects weather patterns, causes sea levels to rise, and disrupts ecosystems globally.</a:t>
              </a:r>
              <a:endParaRPr b="0"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Summary:</a:t>
              </a:r>
              <a:r>
                <a:rPr b="0" lang="en-US" sz="1200">
                  <a:solidFill>
                    <a:srgbClr val="334155"/>
                  </a:solidFill>
                  <a:latin typeface="Plus Jakarta Sans"/>
                  <a:ea typeface="Plus Jakarta Sans"/>
                  <a:cs typeface="Plus Jakarta Sans"/>
                  <a:sym typeface="Plus Jakarta Sans"/>
                </a:rPr>
                <a:t> Climate change broadly impacts global environmental systems.</a:t>
              </a:r>
              <a:endParaRPr b="0" sz="1200">
                <a:solidFill>
                  <a:srgbClr val="334155"/>
                </a:solidFill>
                <a:latin typeface="Plus Jakarta Sans"/>
                <a:ea typeface="Plus Jakarta Sans"/>
                <a:cs typeface="Plus Jakarta Sans"/>
                <a:sym typeface="Plus Jakarta Sans"/>
              </a:endParaRPr>
            </a:p>
          </p:txBody>
        </p:sp>
      </p:grpSp>
      <p:grpSp>
        <p:nvGrpSpPr>
          <p:cNvPr id="189" name="Google Shape;189;p17"/>
          <p:cNvGrpSpPr/>
          <p:nvPr/>
        </p:nvGrpSpPr>
        <p:grpSpPr>
          <a:xfrm>
            <a:off x="4343400" y="1714500"/>
            <a:ext cx="3505200" cy="2095500"/>
            <a:chOff x="0" y="0"/>
            <a:chExt cx="3505200" cy="2095500"/>
          </a:xfrm>
        </p:grpSpPr>
        <p:sp>
          <p:nvSpPr>
            <p:cNvPr id="190" name="Google Shape;190;p17"/>
            <p:cNvSpPr/>
            <p:nvPr/>
          </p:nvSpPr>
          <p:spPr>
            <a:xfrm>
              <a:off x="0" y="0"/>
              <a:ext cx="3505200" cy="2095500"/>
            </a:xfrm>
            <a:prstGeom prst="roundRect">
              <a:avLst>
                <a:gd fmla="val 5454"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7"/>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15803D"/>
                  </a:solidFill>
                  <a:latin typeface="Plus Jakarta Sans"/>
                  <a:ea typeface="Plus Jakarta Sans"/>
                  <a:cs typeface="Plus Jakarta Sans"/>
                  <a:sym typeface="Plus Jakarta Sans"/>
                </a:rPr>
                <a:t>2. REDUCE INITIAL LENGTH</a:t>
              </a:r>
              <a:endParaRPr b="1" sz="1100">
                <a:solidFill>
                  <a:srgbClr val="15803D"/>
                </a:solidFill>
                <a:latin typeface="Plus Jakarta Sans"/>
                <a:ea typeface="Plus Jakarta Sans"/>
                <a:cs typeface="Plus Jakarta Sans"/>
                <a:sym typeface="Plus Jakarta Sans"/>
              </a:endParaRPr>
            </a:p>
          </p:txBody>
        </p:sp>
        <p:sp>
          <p:nvSpPr>
            <p:cNvPr id="192" name="Google Shape;192;p17"/>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a:t>
              </a:r>
              <a:r>
                <a:rPr b="0" lang="en-US" sz="1200">
                  <a:solidFill>
                    <a:srgbClr val="334155"/>
                  </a:solidFill>
                  <a:latin typeface="Plus Jakarta Sans"/>
                  <a:ea typeface="Plus Jakarta Sans"/>
                  <a:cs typeface="Plus Jakarta Sans"/>
                  <a:sym typeface="Plus Jakarta Sans"/>
                </a:rPr>
                <a:t> A 50-page report detailing quarterly financial losses across multiple regional branches.</a:t>
              </a:r>
              <a:endParaRPr b="0"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Summary:</a:t>
              </a:r>
              <a:r>
                <a:rPr b="0" lang="en-US" sz="1200">
                  <a:solidFill>
                    <a:srgbClr val="334155"/>
                  </a:solidFill>
                  <a:latin typeface="Plus Jakarta Sans"/>
                  <a:ea typeface="Plus Jakarta Sans"/>
                  <a:cs typeface="Plus Jakarta Sans"/>
                  <a:sym typeface="Plus Jakarta Sans"/>
                </a:rPr>
                <a:t> Regional branches experienced widespread quarterly financial losses.</a:t>
              </a:r>
              <a:endParaRPr b="0" sz="1200">
                <a:solidFill>
                  <a:srgbClr val="334155"/>
                </a:solidFill>
                <a:latin typeface="Plus Jakarta Sans"/>
                <a:ea typeface="Plus Jakarta Sans"/>
                <a:cs typeface="Plus Jakarta Sans"/>
                <a:sym typeface="Plus Jakarta Sans"/>
              </a:endParaRPr>
            </a:p>
          </p:txBody>
        </p:sp>
      </p:grpSp>
      <p:grpSp>
        <p:nvGrpSpPr>
          <p:cNvPr id="193" name="Google Shape;193;p17"/>
          <p:cNvGrpSpPr/>
          <p:nvPr/>
        </p:nvGrpSpPr>
        <p:grpSpPr>
          <a:xfrm>
            <a:off x="8039100" y="1714500"/>
            <a:ext cx="3505200" cy="2095500"/>
            <a:chOff x="0" y="0"/>
            <a:chExt cx="3505200" cy="2095500"/>
          </a:xfrm>
        </p:grpSpPr>
        <p:sp>
          <p:nvSpPr>
            <p:cNvPr id="194" name="Google Shape;194;p17"/>
            <p:cNvSpPr/>
            <p:nvPr/>
          </p:nvSpPr>
          <p:spPr>
            <a:xfrm>
              <a:off x="0" y="0"/>
              <a:ext cx="3505200" cy="2095500"/>
            </a:xfrm>
            <a:prstGeom prst="roundRect">
              <a:avLst>
                <a:gd fmla="val 5454" name="adj"/>
              </a:avLst>
            </a:prstGeom>
            <a:solidFill>
              <a:srgbClr val="FEFCE8"/>
            </a:solidFill>
            <a:ln cap="flat" cmpd="sng" w="9525">
              <a:solidFill>
                <a:srgbClr val="FEF0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17"/>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A16207"/>
                  </a:solidFill>
                  <a:latin typeface="Plus Jakarta Sans"/>
                  <a:ea typeface="Plus Jakarta Sans"/>
                  <a:cs typeface="Plus Jakarta Sans"/>
                  <a:sym typeface="Plus Jakarta Sans"/>
                </a:rPr>
                <a:t>3. CAPTURE CENTRAL THESIS</a:t>
              </a:r>
              <a:endParaRPr b="1" sz="1100">
                <a:solidFill>
                  <a:srgbClr val="A16207"/>
                </a:solidFill>
                <a:latin typeface="Plus Jakarta Sans"/>
                <a:ea typeface="Plus Jakarta Sans"/>
                <a:cs typeface="Plus Jakarta Sans"/>
                <a:sym typeface="Plus Jakarta Sans"/>
              </a:endParaRPr>
            </a:p>
          </p:txBody>
        </p:sp>
        <p:sp>
          <p:nvSpPr>
            <p:cNvPr id="196" name="Google Shape;196;p17"/>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a:t>
              </a:r>
              <a:r>
                <a:rPr b="0" lang="en-US" sz="1200">
                  <a:solidFill>
                    <a:srgbClr val="334155"/>
                  </a:solidFill>
                  <a:latin typeface="Plus Jakarta Sans"/>
                  <a:ea typeface="Plus Jakarta Sans"/>
                  <a:cs typeface="Plus Jakarta Sans"/>
                  <a:sym typeface="Plus Jakarta Sans"/>
                </a:rPr>
                <a:t> Detailed study on how remote work tools improve employee satisfaction and output.</a:t>
              </a:r>
              <a:endParaRPr b="0"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Summary:</a:t>
              </a:r>
              <a:r>
                <a:rPr b="0" lang="en-US" sz="1200">
                  <a:solidFill>
                    <a:srgbClr val="334155"/>
                  </a:solidFill>
                  <a:latin typeface="Plus Jakarta Sans"/>
                  <a:ea typeface="Plus Jakarta Sans"/>
                  <a:cs typeface="Plus Jakarta Sans"/>
                  <a:sym typeface="Plus Jakarta Sans"/>
                </a:rPr>
                <a:t> Remote work flexibility enhances overall workforce productivity.</a:t>
              </a:r>
              <a:endParaRPr b="0" sz="1200">
                <a:solidFill>
                  <a:srgbClr val="334155"/>
                </a:solidFill>
                <a:latin typeface="Plus Jakarta Sans"/>
                <a:ea typeface="Plus Jakarta Sans"/>
                <a:cs typeface="Plus Jakarta Sans"/>
                <a:sym typeface="Plus Jakarta Sans"/>
              </a:endParaRPr>
            </a:p>
          </p:txBody>
        </p:sp>
      </p:grpSp>
      <p:grpSp>
        <p:nvGrpSpPr>
          <p:cNvPr id="197" name="Google Shape;197;p17"/>
          <p:cNvGrpSpPr/>
          <p:nvPr/>
        </p:nvGrpSpPr>
        <p:grpSpPr>
          <a:xfrm>
            <a:off x="647700" y="4095750"/>
            <a:ext cx="3505200" cy="2095500"/>
            <a:chOff x="0" y="0"/>
            <a:chExt cx="3505200" cy="2095500"/>
          </a:xfrm>
        </p:grpSpPr>
        <p:sp>
          <p:nvSpPr>
            <p:cNvPr id="198" name="Google Shape;198;p17"/>
            <p:cNvSpPr/>
            <p:nvPr/>
          </p:nvSpPr>
          <p:spPr>
            <a:xfrm>
              <a:off x="0" y="0"/>
              <a:ext cx="3505200" cy="2095500"/>
            </a:xfrm>
            <a:prstGeom prst="roundRect">
              <a:avLst>
                <a:gd fmla="val 5454" name="adj"/>
              </a:avLst>
            </a:prstGeom>
            <a:solidFill>
              <a:srgbClr val="FAF5FF"/>
            </a:solidFill>
            <a:ln cap="flat" cmpd="sng" w="9525">
              <a:solidFill>
                <a:srgbClr val="E9D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7"/>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7E22CE"/>
                  </a:solidFill>
                  <a:latin typeface="Plus Jakarta Sans"/>
                  <a:ea typeface="Plus Jakarta Sans"/>
                  <a:cs typeface="Plus Jakarta Sans"/>
                  <a:sym typeface="Plus Jakarta Sans"/>
                </a:rPr>
                <a:t>4. ELIMINATE EXAMPLES &amp; DATA</a:t>
              </a:r>
              <a:endParaRPr b="1" sz="1100">
                <a:solidFill>
                  <a:srgbClr val="7E22CE"/>
                </a:solidFill>
                <a:latin typeface="Plus Jakarta Sans"/>
                <a:ea typeface="Plus Jakarta Sans"/>
                <a:cs typeface="Plus Jakarta Sans"/>
                <a:sym typeface="Plus Jakarta Sans"/>
              </a:endParaRPr>
            </a:p>
          </p:txBody>
        </p:sp>
        <p:sp>
          <p:nvSpPr>
            <p:cNvPr id="200" name="Google Shape;200;p17"/>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a:t>
              </a:r>
              <a:r>
                <a:rPr b="0" lang="en-US" sz="1200">
                  <a:solidFill>
                    <a:srgbClr val="334155"/>
                  </a:solidFill>
                  <a:latin typeface="Plus Jakarta Sans"/>
                  <a:ea typeface="Plus Jakarta Sans"/>
                  <a:cs typeface="Plus Jakarta Sans"/>
                  <a:sym typeface="Plus Jakarta Sans"/>
                </a:rPr>
                <a:t> Sales grew by 15% in Q1, 18% in Q2, and 22% in Q3 due to new software launches.</a:t>
              </a:r>
              <a:endParaRPr b="0"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Summary:</a:t>
              </a:r>
              <a:r>
                <a:rPr b="0" lang="en-US" sz="1200">
                  <a:solidFill>
                    <a:srgbClr val="334155"/>
                  </a:solidFill>
                  <a:latin typeface="Plus Jakarta Sans"/>
                  <a:ea typeface="Plus Jakarta Sans"/>
                  <a:cs typeface="Plus Jakarta Sans"/>
                  <a:sym typeface="Plus Jakarta Sans"/>
                </a:rPr>
                <a:t> Software product launches steadily drove annual revenue growth.</a:t>
              </a:r>
              <a:endParaRPr b="0" sz="1200">
                <a:solidFill>
                  <a:srgbClr val="334155"/>
                </a:solidFill>
                <a:latin typeface="Plus Jakarta Sans"/>
                <a:ea typeface="Plus Jakarta Sans"/>
                <a:cs typeface="Plus Jakarta Sans"/>
                <a:sym typeface="Plus Jakarta Sans"/>
              </a:endParaRPr>
            </a:p>
          </p:txBody>
        </p:sp>
      </p:grpSp>
      <p:grpSp>
        <p:nvGrpSpPr>
          <p:cNvPr id="201" name="Google Shape;201;p17"/>
          <p:cNvGrpSpPr/>
          <p:nvPr/>
        </p:nvGrpSpPr>
        <p:grpSpPr>
          <a:xfrm>
            <a:off x="4343400" y="4095750"/>
            <a:ext cx="3505200" cy="2095500"/>
            <a:chOff x="0" y="0"/>
            <a:chExt cx="3505200" cy="2095500"/>
          </a:xfrm>
        </p:grpSpPr>
        <p:sp>
          <p:nvSpPr>
            <p:cNvPr id="202" name="Google Shape;202;p17"/>
            <p:cNvSpPr/>
            <p:nvPr/>
          </p:nvSpPr>
          <p:spPr>
            <a:xfrm>
              <a:off x="0" y="0"/>
              <a:ext cx="3505200" cy="2095500"/>
            </a:xfrm>
            <a:prstGeom prst="roundRect">
              <a:avLst>
                <a:gd fmla="val 5454" name="adj"/>
              </a:avLst>
            </a:prstGeom>
            <a:solidFill>
              <a:srgbClr val="FFF1F2"/>
            </a:solidFill>
            <a:ln cap="flat" cmpd="sng" w="9525">
              <a:solidFill>
                <a:srgbClr val="FECDD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17"/>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BE123C"/>
                  </a:solidFill>
                  <a:latin typeface="Plus Jakarta Sans"/>
                  <a:ea typeface="Plus Jakarta Sans"/>
                  <a:cs typeface="Plus Jakarta Sans"/>
                  <a:sym typeface="Plus Jakarta Sans"/>
                </a:rPr>
                <a:t>5. MAINTAIN NEUTRALITY</a:t>
              </a:r>
              <a:endParaRPr b="1" sz="1100">
                <a:solidFill>
                  <a:srgbClr val="BE123C"/>
                </a:solidFill>
                <a:latin typeface="Plus Jakarta Sans"/>
                <a:ea typeface="Plus Jakarta Sans"/>
                <a:cs typeface="Plus Jakarta Sans"/>
                <a:sym typeface="Plus Jakarta Sans"/>
              </a:endParaRPr>
            </a:p>
          </p:txBody>
        </p:sp>
        <p:sp>
          <p:nvSpPr>
            <p:cNvPr id="204" name="Google Shape;204;p17"/>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a:t>
              </a:r>
              <a:r>
                <a:rPr b="0" lang="en-US" sz="1200">
                  <a:solidFill>
                    <a:srgbClr val="334155"/>
                  </a:solidFill>
                  <a:latin typeface="Plus Jakarta Sans"/>
                  <a:ea typeface="Plus Jakarta Sans"/>
                  <a:cs typeface="Plus Jakarta Sans"/>
                  <a:sym typeface="Plus Jakarta Sans"/>
                </a:rPr>
                <a:t> The author brilliantly dismantles outdated management theories in a revolutionary chapter.</a:t>
              </a:r>
              <a:endParaRPr b="0"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Summary:</a:t>
              </a:r>
              <a:r>
                <a:rPr b="0" lang="en-US" sz="1200">
                  <a:solidFill>
                    <a:srgbClr val="334155"/>
                  </a:solidFill>
                  <a:latin typeface="Plus Jakarta Sans"/>
                  <a:ea typeface="Plus Jakarta Sans"/>
                  <a:cs typeface="Plus Jakarta Sans"/>
                  <a:sym typeface="Plus Jakarta Sans"/>
                </a:rPr>
                <a:t> The text critiques traditional organizational management models.</a:t>
              </a:r>
              <a:endParaRPr b="0" sz="1200">
                <a:solidFill>
                  <a:srgbClr val="334155"/>
                </a:solidFill>
                <a:latin typeface="Plus Jakarta Sans"/>
                <a:ea typeface="Plus Jakarta Sans"/>
                <a:cs typeface="Plus Jakarta Sans"/>
                <a:sym typeface="Plus Jakarta Sans"/>
              </a:endParaRPr>
            </a:p>
          </p:txBody>
        </p:sp>
      </p:grpSp>
      <p:grpSp>
        <p:nvGrpSpPr>
          <p:cNvPr id="205" name="Google Shape;205;p17"/>
          <p:cNvGrpSpPr/>
          <p:nvPr/>
        </p:nvGrpSpPr>
        <p:grpSpPr>
          <a:xfrm>
            <a:off x="8039100" y="4095750"/>
            <a:ext cx="3505200" cy="2095500"/>
            <a:chOff x="0" y="0"/>
            <a:chExt cx="3505200" cy="2095500"/>
          </a:xfrm>
        </p:grpSpPr>
        <p:sp>
          <p:nvSpPr>
            <p:cNvPr id="206" name="Google Shape;206;p17"/>
            <p:cNvSpPr/>
            <p:nvPr/>
          </p:nvSpPr>
          <p:spPr>
            <a:xfrm>
              <a:off x="0" y="0"/>
              <a:ext cx="3505200" cy="2095500"/>
            </a:xfrm>
            <a:prstGeom prst="roundRect">
              <a:avLst>
                <a:gd fmla="val 5454"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7"/>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334155"/>
                  </a:solidFill>
                  <a:latin typeface="Plus Jakarta Sans"/>
                  <a:ea typeface="Plus Jakarta Sans"/>
                  <a:cs typeface="Plus Jakarta Sans"/>
                  <a:sym typeface="Plus Jakarta Sans"/>
                </a:rPr>
                <a:t>6. REQUIRE CITATION</a:t>
              </a:r>
              <a:endParaRPr b="1" sz="1100">
                <a:solidFill>
                  <a:srgbClr val="334155"/>
                </a:solidFill>
                <a:latin typeface="Plus Jakarta Sans"/>
                <a:ea typeface="Plus Jakarta Sans"/>
                <a:cs typeface="Plus Jakarta Sans"/>
                <a:sym typeface="Plus Jakarta Sans"/>
              </a:endParaRPr>
            </a:p>
          </p:txBody>
        </p:sp>
        <p:sp>
          <p:nvSpPr>
            <p:cNvPr id="208" name="Google Shape;208;p17"/>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a:t>
              </a:r>
              <a:r>
                <a:rPr b="0" lang="en-US" sz="1200">
                  <a:solidFill>
                    <a:srgbClr val="334155"/>
                  </a:solidFill>
                  <a:latin typeface="Plus Jakarta Sans"/>
                  <a:ea typeface="Plus Jakarta Sans"/>
                  <a:cs typeface="Plus Jakarta Sans"/>
                  <a:sym typeface="Plus Jakarta Sans"/>
                </a:rPr>
                <a:t> Scientific findings on renewable energy adoption rates published by Smith et al.</a:t>
              </a:r>
              <a:endParaRPr b="0"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Summary:</a:t>
              </a:r>
              <a:r>
                <a:rPr b="0" lang="en-US" sz="1200">
                  <a:solidFill>
                    <a:srgbClr val="334155"/>
                  </a:solidFill>
                  <a:latin typeface="Plus Jakarta Sans"/>
                  <a:ea typeface="Plus Jakarta Sans"/>
                  <a:cs typeface="Plus Jakarta Sans"/>
                  <a:sym typeface="Plus Jakarta Sans"/>
                </a:rPr>
                <a:t> Clean energy adoption accelerates with legislative support (Smith et al., 2024).</a:t>
              </a:r>
              <a:endParaRPr b="0" sz="1200">
                <a:solidFill>
                  <a:srgbClr val="334155"/>
                </a:solidFill>
                <a:latin typeface="Plus Jakarta Sans"/>
                <a:ea typeface="Plus Jakarta Sans"/>
                <a:cs typeface="Plus Jakarta Sans"/>
                <a:sym typeface="Plus Jakarta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18"/>
          <p:cNvSpPr/>
          <p:nvPr/>
        </p:nvSpPr>
        <p:spPr>
          <a:xfrm>
            <a:off x="647700" y="2273796"/>
            <a:ext cx="3505200" cy="1555200"/>
          </a:xfrm>
          <a:prstGeom prst="roundRect">
            <a:avLst>
              <a:gd fmla="val 7349" name="adj"/>
            </a:avLst>
          </a:prstGeom>
          <a:solidFill>
            <a:srgbClr val="FDF4FF"/>
          </a:solidFill>
          <a:ln cap="flat" cmpd="sng" w="9525">
            <a:solidFill>
              <a:srgbClr val="F5D0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18"/>
          <p:cNvSpPr/>
          <p:nvPr/>
        </p:nvSpPr>
        <p:spPr>
          <a:xfrm>
            <a:off x="4343400" y="2273796"/>
            <a:ext cx="3505200" cy="1555200"/>
          </a:xfrm>
          <a:prstGeom prst="roundRect">
            <a:avLst>
              <a:gd fmla="val 7349" name="adj"/>
            </a:avLst>
          </a:prstGeom>
          <a:solidFill>
            <a:srgbClr val="F0FDFA"/>
          </a:solidFill>
          <a:ln cap="flat" cmpd="sng" w="9525">
            <a:solidFill>
              <a:srgbClr val="99F6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8"/>
          <p:cNvSpPr/>
          <p:nvPr/>
        </p:nvSpPr>
        <p:spPr>
          <a:xfrm>
            <a:off x="8039100" y="2273796"/>
            <a:ext cx="3505200" cy="1555200"/>
          </a:xfrm>
          <a:prstGeom prst="roundRect">
            <a:avLst>
              <a:gd fmla="val 7349" name="adj"/>
            </a:avLst>
          </a:prstGeom>
          <a:solidFill>
            <a:srgbClr val="FFF7ED"/>
          </a:solidFill>
          <a:ln cap="flat" cmpd="sng" w="9525">
            <a:solidFill>
              <a:srgbClr val="FFED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18"/>
          <p:cNvSpPr/>
          <p:nvPr/>
        </p:nvSpPr>
        <p:spPr>
          <a:xfrm>
            <a:off x="647700" y="4019550"/>
            <a:ext cx="3505200" cy="1555200"/>
          </a:xfrm>
          <a:prstGeom prst="roundRect">
            <a:avLst>
              <a:gd fmla="val 7349" name="adj"/>
            </a:avLst>
          </a:prstGeom>
          <a:solidFill>
            <a:srgbClr val="ECFEFF"/>
          </a:solidFill>
          <a:ln cap="flat" cmpd="sng" w="9525">
            <a:solidFill>
              <a:srgbClr val="A5F3F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18"/>
          <p:cNvSpPr/>
          <p:nvPr/>
        </p:nvSpPr>
        <p:spPr>
          <a:xfrm>
            <a:off x="4343400" y="4019550"/>
            <a:ext cx="3505200" cy="1555200"/>
          </a:xfrm>
          <a:prstGeom prst="roundRect">
            <a:avLst>
              <a:gd fmla="val 7349" name="adj"/>
            </a:avLst>
          </a:prstGeom>
          <a:solidFill>
            <a:srgbClr val="FEF2F2"/>
          </a:solidFill>
          <a:ln cap="flat" cmpd="sng" w="9525">
            <a:solidFill>
              <a:srgbClr val="FECAC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18"/>
          <p:cNvSpPr/>
          <p:nvPr/>
        </p:nvSpPr>
        <p:spPr>
          <a:xfrm>
            <a:off x="8039100" y="4019550"/>
            <a:ext cx="3505200" cy="1555200"/>
          </a:xfrm>
          <a:prstGeom prst="roundRect">
            <a:avLst>
              <a:gd fmla="val 7349"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9" name="Google Shape;219;p18"/>
          <p:cNvPicPr preferRelativeResize="0"/>
          <p:nvPr/>
        </p:nvPicPr>
        <p:blipFill rotWithShape="1">
          <a:blip r:embed="rId3">
            <a:alphaModFix/>
          </a:blip>
          <a:srcRect b="0" l="0" r="0" t="0"/>
          <a:stretch/>
        </p:blipFill>
        <p:spPr>
          <a:xfrm>
            <a:off x="885825" y="2550021"/>
            <a:ext cx="381000" cy="381000"/>
          </a:xfrm>
          <a:prstGeom prst="rect">
            <a:avLst/>
          </a:prstGeom>
          <a:noFill/>
          <a:ln>
            <a:noFill/>
          </a:ln>
        </p:spPr>
      </p:pic>
      <p:pic>
        <p:nvPicPr>
          <p:cNvPr descr="image.png" id="220" name="Google Shape;220;p18"/>
          <p:cNvPicPr preferRelativeResize="0"/>
          <p:nvPr/>
        </p:nvPicPr>
        <p:blipFill rotWithShape="1">
          <a:blip r:embed="rId4">
            <a:alphaModFix/>
          </a:blip>
          <a:srcRect b="0" l="0" r="0" t="0"/>
          <a:stretch/>
        </p:blipFill>
        <p:spPr>
          <a:xfrm>
            <a:off x="4581525" y="2550021"/>
            <a:ext cx="381000" cy="381000"/>
          </a:xfrm>
          <a:prstGeom prst="rect">
            <a:avLst/>
          </a:prstGeom>
          <a:noFill/>
          <a:ln>
            <a:noFill/>
          </a:ln>
        </p:spPr>
      </p:pic>
      <p:pic>
        <p:nvPicPr>
          <p:cNvPr descr="image.png" id="221" name="Google Shape;221;p18"/>
          <p:cNvPicPr preferRelativeResize="0"/>
          <p:nvPr/>
        </p:nvPicPr>
        <p:blipFill rotWithShape="1">
          <a:blip r:embed="rId5">
            <a:alphaModFix/>
          </a:blip>
          <a:srcRect b="0" l="0" r="0" t="0"/>
          <a:stretch/>
        </p:blipFill>
        <p:spPr>
          <a:xfrm>
            <a:off x="8277225" y="2550021"/>
            <a:ext cx="381000" cy="381000"/>
          </a:xfrm>
          <a:prstGeom prst="rect">
            <a:avLst/>
          </a:prstGeom>
          <a:noFill/>
          <a:ln>
            <a:noFill/>
          </a:ln>
        </p:spPr>
      </p:pic>
      <p:pic>
        <p:nvPicPr>
          <p:cNvPr descr="image.png" id="222" name="Google Shape;222;p18"/>
          <p:cNvPicPr preferRelativeResize="0"/>
          <p:nvPr/>
        </p:nvPicPr>
        <p:blipFill rotWithShape="1">
          <a:blip r:embed="rId6">
            <a:alphaModFix/>
          </a:blip>
          <a:srcRect b="0" l="0" r="0" t="0"/>
          <a:stretch/>
        </p:blipFill>
        <p:spPr>
          <a:xfrm>
            <a:off x="885825" y="4295775"/>
            <a:ext cx="381000" cy="381000"/>
          </a:xfrm>
          <a:prstGeom prst="rect">
            <a:avLst/>
          </a:prstGeom>
          <a:noFill/>
          <a:ln>
            <a:noFill/>
          </a:ln>
        </p:spPr>
      </p:pic>
      <p:pic>
        <p:nvPicPr>
          <p:cNvPr descr="image.png" id="223" name="Google Shape;223;p18"/>
          <p:cNvPicPr preferRelativeResize="0"/>
          <p:nvPr/>
        </p:nvPicPr>
        <p:blipFill rotWithShape="1">
          <a:blip r:embed="rId7">
            <a:alphaModFix/>
          </a:blip>
          <a:srcRect b="0" l="0" r="0" t="0"/>
          <a:stretch/>
        </p:blipFill>
        <p:spPr>
          <a:xfrm>
            <a:off x="4581525" y="4295775"/>
            <a:ext cx="381000" cy="381000"/>
          </a:xfrm>
          <a:prstGeom prst="rect">
            <a:avLst/>
          </a:prstGeom>
          <a:noFill/>
          <a:ln>
            <a:noFill/>
          </a:ln>
        </p:spPr>
      </p:pic>
      <p:pic>
        <p:nvPicPr>
          <p:cNvPr descr="image.png" id="224" name="Google Shape;224;p18"/>
          <p:cNvPicPr preferRelativeResize="0"/>
          <p:nvPr/>
        </p:nvPicPr>
        <p:blipFill rotWithShape="1">
          <a:blip r:embed="rId8">
            <a:alphaModFix/>
          </a:blip>
          <a:srcRect b="0" l="0" r="0" t="0"/>
          <a:stretch/>
        </p:blipFill>
        <p:spPr>
          <a:xfrm>
            <a:off x="8277225" y="4295775"/>
            <a:ext cx="381000" cy="381000"/>
          </a:xfrm>
          <a:prstGeom prst="rect">
            <a:avLst/>
          </a:prstGeom>
          <a:noFill/>
          <a:ln>
            <a:noFill/>
          </a:ln>
        </p:spPr>
      </p:pic>
      <p:pic>
        <p:nvPicPr>
          <p:cNvPr descr="image.png" id="225" name="Google Shape;225;p18"/>
          <p:cNvPicPr preferRelativeResize="0"/>
          <p:nvPr/>
        </p:nvPicPr>
        <p:blipFill rotWithShape="1">
          <a:blip r:embed="rId9">
            <a:alphaModFix/>
          </a:blip>
          <a:srcRect b="0" l="0" r="0" t="0"/>
          <a:stretch/>
        </p:blipFill>
        <p:spPr>
          <a:xfrm>
            <a:off x="990600" y="2654796"/>
            <a:ext cx="171450" cy="171450"/>
          </a:xfrm>
          <a:prstGeom prst="rect">
            <a:avLst/>
          </a:prstGeom>
          <a:noFill/>
          <a:ln>
            <a:noFill/>
          </a:ln>
        </p:spPr>
      </p:pic>
      <p:pic>
        <p:nvPicPr>
          <p:cNvPr descr="image.png" id="226" name="Google Shape;226;p18"/>
          <p:cNvPicPr preferRelativeResize="0"/>
          <p:nvPr/>
        </p:nvPicPr>
        <p:blipFill rotWithShape="1">
          <a:blip r:embed="rId10">
            <a:alphaModFix/>
          </a:blip>
          <a:srcRect b="0" l="0" r="0" t="0"/>
          <a:stretch/>
        </p:blipFill>
        <p:spPr>
          <a:xfrm>
            <a:off x="4686300" y="2654796"/>
            <a:ext cx="171450" cy="171450"/>
          </a:xfrm>
          <a:prstGeom prst="rect">
            <a:avLst/>
          </a:prstGeom>
          <a:noFill/>
          <a:ln>
            <a:noFill/>
          </a:ln>
        </p:spPr>
      </p:pic>
      <p:pic>
        <p:nvPicPr>
          <p:cNvPr descr="image.png" id="227" name="Google Shape;227;p18"/>
          <p:cNvPicPr preferRelativeResize="0"/>
          <p:nvPr/>
        </p:nvPicPr>
        <p:blipFill rotWithShape="1">
          <a:blip r:embed="rId11">
            <a:alphaModFix/>
          </a:blip>
          <a:srcRect b="0" l="0" r="0" t="0"/>
          <a:stretch/>
        </p:blipFill>
        <p:spPr>
          <a:xfrm>
            <a:off x="8391525" y="2654796"/>
            <a:ext cx="152400" cy="171450"/>
          </a:xfrm>
          <a:prstGeom prst="rect">
            <a:avLst/>
          </a:prstGeom>
          <a:noFill/>
          <a:ln>
            <a:noFill/>
          </a:ln>
        </p:spPr>
      </p:pic>
      <p:pic>
        <p:nvPicPr>
          <p:cNvPr descr="image.png" id="228" name="Google Shape;228;p18"/>
          <p:cNvPicPr preferRelativeResize="0"/>
          <p:nvPr/>
        </p:nvPicPr>
        <p:blipFill rotWithShape="1">
          <a:blip r:embed="rId12">
            <a:alphaModFix/>
          </a:blip>
          <a:srcRect b="0" l="0" r="0" t="0"/>
          <a:stretch/>
        </p:blipFill>
        <p:spPr>
          <a:xfrm>
            <a:off x="990600" y="4400550"/>
            <a:ext cx="171450" cy="171450"/>
          </a:xfrm>
          <a:prstGeom prst="rect">
            <a:avLst/>
          </a:prstGeom>
          <a:noFill/>
          <a:ln>
            <a:noFill/>
          </a:ln>
        </p:spPr>
      </p:pic>
      <p:pic>
        <p:nvPicPr>
          <p:cNvPr descr="image.png" id="229" name="Google Shape;229;p18"/>
          <p:cNvPicPr preferRelativeResize="0"/>
          <p:nvPr/>
        </p:nvPicPr>
        <p:blipFill rotWithShape="1">
          <a:blip r:embed="rId13">
            <a:alphaModFix/>
          </a:blip>
          <a:srcRect b="0" l="0" r="0" t="0"/>
          <a:stretch/>
        </p:blipFill>
        <p:spPr>
          <a:xfrm>
            <a:off x="4686300" y="4400550"/>
            <a:ext cx="171450" cy="171450"/>
          </a:xfrm>
          <a:prstGeom prst="rect">
            <a:avLst/>
          </a:prstGeom>
          <a:noFill/>
          <a:ln>
            <a:noFill/>
          </a:ln>
        </p:spPr>
      </p:pic>
      <p:pic>
        <p:nvPicPr>
          <p:cNvPr descr="image.png" id="230" name="Google Shape;230;p18"/>
          <p:cNvPicPr preferRelativeResize="0"/>
          <p:nvPr/>
        </p:nvPicPr>
        <p:blipFill rotWithShape="1">
          <a:blip r:embed="rId14">
            <a:alphaModFix/>
          </a:blip>
          <a:srcRect b="0" l="0" r="0" t="0"/>
          <a:stretch/>
        </p:blipFill>
        <p:spPr>
          <a:xfrm>
            <a:off x="8382000" y="4400550"/>
            <a:ext cx="171450" cy="171450"/>
          </a:xfrm>
          <a:prstGeom prst="rect">
            <a:avLst/>
          </a:prstGeom>
          <a:noFill/>
          <a:ln>
            <a:noFill/>
          </a:ln>
        </p:spPr>
      </p:pic>
      <p:sp>
        <p:nvSpPr>
          <p:cNvPr id="231" name="Google Shape;231;p18"/>
          <p:cNvSpPr txBox="1"/>
          <p:nvPr/>
        </p:nvSpPr>
        <p:spPr>
          <a:xfrm>
            <a:off x="647700" y="752475"/>
            <a:ext cx="11544300" cy="4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2700" u="none" strike="noStrike">
                <a:solidFill>
                  <a:srgbClr val="0F172A"/>
                </a:solidFill>
                <a:latin typeface="Plus Jakarta Sans"/>
                <a:ea typeface="Plus Jakarta Sans"/>
                <a:cs typeface="Plus Jakarta Sans"/>
                <a:sym typeface="Plus Jakarta Sans"/>
              </a:rPr>
              <a:t>What is Paraphrasing?</a:t>
            </a:r>
            <a:endParaRPr b="1" i="0" sz="2700" u="none" strike="noStrike">
              <a:solidFill>
                <a:srgbClr val="0F172A"/>
              </a:solidFill>
              <a:latin typeface="Plus Jakarta Sans"/>
              <a:ea typeface="Plus Jakarta Sans"/>
              <a:cs typeface="Plus Jakarta Sans"/>
              <a:sym typeface="Plus Jakarta Sans"/>
            </a:endParaRPr>
          </a:p>
        </p:txBody>
      </p:sp>
      <p:sp>
        <p:nvSpPr>
          <p:cNvPr id="232" name="Google Shape;232;p18"/>
          <p:cNvSpPr txBox="1"/>
          <p:nvPr/>
        </p:nvSpPr>
        <p:spPr>
          <a:xfrm>
            <a:off x="885825" y="3064373"/>
            <a:ext cx="3786300" cy="21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A21CAF"/>
                </a:solidFill>
                <a:latin typeface="Plus Jakarta Sans"/>
                <a:ea typeface="Plus Jakarta Sans"/>
                <a:cs typeface="Plus Jakarta Sans"/>
                <a:sym typeface="Plus Jakarta Sans"/>
              </a:rPr>
              <a:t>Rewrites ideas in your own voice.</a:t>
            </a:r>
            <a:endParaRPr b="1" i="0" sz="1425" u="none" strike="noStrike">
              <a:solidFill>
                <a:srgbClr val="A21CAF"/>
              </a:solidFill>
              <a:latin typeface="Plus Jakarta Sans"/>
              <a:ea typeface="Plus Jakarta Sans"/>
              <a:cs typeface="Plus Jakarta Sans"/>
              <a:sym typeface="Plus Jakarta Sans"/>
            </a:endParaRPr>
          </a:p>
        </p:txBody>
      </p:sp>
      <p:sp>
        <p:nvSpPr>
          <p:cNvPr id="233" name="Google Shape;233;p18"/>
          <p:cNvSpPr txBox="1"/>
          <p:nvPr/>
        </p:nvSpPr>
        <p:spPr>
          <a:xfrm>
            <a:off x="4581525" y="3064373"/>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0F766E"/>
                </a:solidFill>
                <a:latin typeface="Plus Jakarta Sans"/>
                <a:ea typeface="Plus Jakarta Sans"/>
                <a:cs typeface="Plus Jakarta Sans"/>
                <a:sym typeface="Plus Jakarta Sans"/>
              </a:rPr>
              <a:t>Modifies original syntactic structure.</a:t>
            </a:r>
            <a:endParaRPr b="1" i="0" sz="1425" u="none" strike="noStrike">
              <a:solidFill>
                <a:srgbClr val="0F766E"/>
              </a:solidFill>
              <a:latin typeface="Plus Jakarta Sans"/>
              <a:ea typeface="Plus Jakarta Sans"/>
              <a:cs typeface="Plus Jakarta Sans"/>
              <a:sym typeface="Plus Jakarta Sans"/>
            </a:endParaRPr>
          </a:p>
        </p:txBody>
      </p:sp>
      <p:sp>
        <p:nvSpPr>
          <p:cNvPr id="234" name="Google Shape;234;p18"/>
          <p:cNvSpPr txBox="1"/>
          <p:nvPr/>
        </p:nvSpPr>
        <p:spPr>
          <a:xfrm>
            <a:off x="8277225" y="3064373"/>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C2410C"/>
                </a:solidFill>
                <a:latin typeface="Plus Jakarta Sans"/>
                <a:ea typeface="Plus Jakarta Sans"/>
                <a:cs typeface="Plus Jakarta Sans"/>
                <a:sym typeface="Plus Jakarta Sans"/>
              </a:rPr>
              <a:t>Preserves core conceptual meaning intact.</a:t>
            </a:r>
            <a:endParaRPr b="1" i="0" sz="1425" u="none" strike="noStrike">
              <a:solidFill>
                <a:srgbClr val="C2410C"/>
              </a:solidFill>
              <a:latin typeface="Plus Jakarta Sans"/>
              <a:ea typeface="Plus Jakarta Sans"/>
              <a:cs typeface="Plus Jakarta Sans"/>
              <a:sym typeface="Plus Jakarta Sans"/>
            </a:endParaRPr>
          </a:p>
        </p:txBody>
      </p:sp>
      <p:sp>
        <p:nvSpPr>
          <p:cNvPr id="235" name="Google Shape;235;p18"/>
          <p:cNvSpPr txBox="1"/>
          <p:nvPr/>
        </p:nvSpPr>
        <p:spPr>
          <a:xfrm>
            <a:off x="885825" y="4810125"/>
            <a:ext cx="3124200" cy="21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0E7490"/>
                </a:solidFill>
                <a:latin typeface="Plus Jakarta Sans"/>
                <a:ea typeface="Plus Jakarta Sans"/>
                <a:cs typeface="Plus Jakarta Sans"/>
                <a:sym typeface="Plus Jakarta Sans"/>
              </a:rPr>
              <a:t>Maintains similar length to original.</a:t>
            </a:r>
            <a:endParaRPr b="1" i="0" sz="1425" u="none" strike="noStrike">
              <a:solidFill>
                <a:srgbClr val="0E7490"/>
              </a:solidFill>
              <a:latin typeface="Plus Jakarta Sans"/>
              <a:ea typeface="Plus Jakarta Sans"/>
              <a:cs typeface="Plus Jakarta Sans"/>
              <a:sym typeface="Plus Jakarta Sans"/>
            </a:endParaRPr>
          </a:p>
        </p:txBody>
      </p:sp>
      <p:sp>
        <p:nvSpPr>
          <p:cNvPr id="236" name="Google Shape;236;p18"/>
          <p:cNvSpPr txBox="1"/>
          <p:nvPr/>
        </p:nvSpPr>
        <p:spPr>
          <a:xfrm>
            <a:off x="4581525" y="4810125"/>
            <a:ext cx="3786300" cy="21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B91C1C"/>
                </a:solidFill>
                <a:latin typeface="Plus Jakarta Sans"/>
                <a:ea typeface="Plus Jakarta Sans"/>
                <a:cs typeface="Plus Jakarta Sans"/>
                <a:sym typeface="Plus Jakarta Sans"/>
              </a:rPr>
              <a:t>Goes beyond simple word swaps.</a:t>
            </a:r>
            <a:endParaRPr b="1" i="0" sz="1425" u="none" strike="noStrike">
              <a:solidFill>
                <a:srgbClr val="B91C1C"/>
              </a:solidFill>
              <a:latin typeface="Plus Jakarta Sans"/>
              <a:ea typeface="Plus Jakarta Sans"/>
              <a:cs typeface="Plus Jakarta Sans"/>
              <a:sym typeface="Plus Jakarta Sans"/>
            </a:endParaRPr>
          </a:p>
        </p:txBody>
      </p:sp>
      <p:sp>
        <p:nvSpPr>
          <p:cNvPr id="237" name="Google Shape;237;p18"/>
          <p:cNvSpPr txBox="1"/>
          <p:nvPr/>
        </p:nvSpPr>
        <p:spPr>
          <a:xfrm>
            <a:off x="8277225" y="4810125"/>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334155"/>
                </a:solidFill>
                <a:latin typeface="Plus Jakarta Sans"/>
                <a:ea typeface="Plus Jakarta Sans"/>
                <a:cs typeface="Plus Jakarta Sans"/>
                <a:sym typeface="Plus Jakarta Sans"/>
              </a:rPr>
              <a:t>Prevents unintentional or mosaic plagiarism.</a:t>
            </a:r>
            <a:endParaRPr b="1" i="0" sz="1425" u="none" strike="noStrike">
              <a:solidFill>
                <a:srgbClr val="334155"/>
              </a:solidFill>
              <a:latin typeface="Plus Jakarta Sans"/>
              <a:ea typeface="Plus Jakarta Sans"/>
              <a:cs typeface="Plus Jakarta Sans"/>
              <a:sym typeface="Plus Jakart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9"/>
          <p:cNvSpPr/>
          <p:nvPr/>
        </p:nvSpPr>
        <p:spPr>
          <a:xfrm>
            <a:off x="0" y="0"/>
            <a:ext cx="12192000" cy="6858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19"/>
          <p:cNvSpPr txBox="1"/>
          <p:nvPr/>
        </p:nvSpPr>
        <p:spPr>
          <a:xfrm>
            <a:off x="647700" y="752475"/>
            <a:ext cx="11544300" cy="4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0F172A"/>
                </a:solidFill>
                <a:latin typeface="Plus Jakarta Sans"/>
                <a:ea typeface="Plus Jakarta Sans"/>
                <a:cs typeface="Plus Jakarta Sans"/>
                <a:sym typeface="Plus Jakarta Sans"/>
              </a:rPr>
              <a:t>Examples of Paraphrasing Techniques</a:t>
            </a:r>
            <a:endParaRPr b="1" sz="2400">
              <a:solidFill>
                <a:srgbClr val="0F172A"/>
              </a:solidFill>
              <a:latin typeface="Plus Jakarta Sans"/>
              <a:ea typeface="Plus Jakarta Sans"/>
              <a:cs typeface="Plus Jakarta Sans"/>
              <a:sym typeface="Plus Jakarta Sans"/>
            </a:endParaRPr>
          </a:p>
        </p:txBody>
      </p:sp>
      <p:grpSp>
        <p:nvGrpSpPr>
          <p:cNvPr id="244" name="Google Shape;244;p19"/>
          <p:cNvGrpSpPr/>
          <p:nvPr/>
        </p:nvGrpSpPr>
        <p:grpSpPr>
          <a:xfrm>
            <a:off x="647700" y="1714500"/>
            <a:ext cx="3505200" cy="2095500"/>
            <a:chOff x="0" y="0"/>
            <a:chExt cx="3505200" cy="2095500"/>
          </a:xfrm>
        </p:grpSpPr>
        <p:sp>
          <p:nvSpPr>
            <p:cNvPr id="245" name="Google Shape;245;p19"/>
            <p:cNvSpPr/>
            <p:nvPr/>
          </p:nvSpPr>
          <p:spPr>
            <a:xfrm>
              <a:off x="0" y="0"/>
              <a:ext cx="3505200" cy="2095500"/>
            </a:xfrm>
            <a:prstGeom prst="roundRect">
              <a:avLst>
                <a:gd fmla="val 5454" name="adj"/>
              </a:avLst>
            </a:prstGeom>
            <a:solidFill>
              <a:srgbClr val="FDF4FF"/>
            </a:solidFill>
            <a:ln cap="flat" cmpd="sng" w="9525">
              <a:solidFill>
                <a:srgbClr val="F5D0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9"/>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A21CAF"/>
                  </a:solidFill>
                  <a:latin typeface="Plus Jakarta Sans"/>
                  <a:ea typeface="Plus Jakarta Sans"/>
                  <a:cs typeface="Plus Jakarta Sans"/>
                  <a:sym typeface="Plus Jakarta Sans"/>
                </a:rPr>
                <a:t>1. REWRITE IN YOUR OWN VOICE</a:t>
              </a:r>
              <a:endParaRPr b="1" sz="1100">
                <a:solidFill>
                  <a:srgbClr val="A21CAF"/>
                </a:solidFill>
                <a:latin typeface="Plus Jakarta Sans"/>
                <a:ea typeface="Plus Jakarta Sans"/>
                <a:cs typeface="Plus Jakarta Sans"/>
                <a:sym typeface="Plus Jakarta Sans"/>
              </a:endParaRPr>
            </a:p>
          </p:txBody>
        </p:sp>
        <p:sp>
          <p:nvSpPr>
            <p:cNvPr id="247" name="Google Shape;247;p19"/>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 </a:t>
              </a:r>
              <a:r>
                <a:rPr b="0" lang="en-US" sz="1200">
                  <a:solidFill>
                    <a:srgbClr val="334155"/>
                  </a:solidFill>
                  <a:latin typeface="Plus Jakarta Sans"/>
                  <a:ea typeface="Plus Jakarta Sans"/>
                  <a:cs typeface="Plus Jakarta Sans"/>
                  <a:sym typeface="Plus Jakarta Sans"/>
                </a:rPr>
                <a:t>The study shows severe decline in bee populations globally.</a:t>
              </a:r>
              <a:endParaRPr b="1"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Paraphrase: </a:t>
              </a:r>
              <a:r>
                <a:rPr b="0" lang="en-US" sz="1200">
                  <a:solidFill>
                    <a:srgbClr val="334155"/>
                  </a:solidFill>
                  <a:latin typeface="Plus Jakarta Sans"/>
                  <a:ea typeface="Plus Jakarta Sans"/>
                  <a:cs typeface="Plus Jakarta Sans"/>
                  <a:sym typeface="Plus Jakarta Sans"/>
                </a:rPr>
                <a:t>Researchers observed a worldwide drop in wild bee counts.</a:t>
              </a:r>
              <a:endParaRPr b="1" sz="1200">
                <a:solidFill>
                  <a:srgbClr val="334155"/>
                </a:solidFill>
                <a:latin typeface="Plus Jakarta Sans"/>
                <a:ea typeface="Plus Jakarta Sans"/>
                <a:cs typeface="Plus Jakarta Sans"/>
                <a:sym typeface="Plus Jakarta Sans"/>
              </a:endParaRPr>
            </a:p>
          </p:txBody>
        </p:sp>
      </p:grpSp>
      <p:grpSp>
        <p:nvGrpSpPr>
          <p:cNvPr id="248" name="Google Shape;248;p19"/>
          <p:cNvGrpSpPr/>
          <p:nvPr/>
        </p:nvGrpSpPr>
        <p:grpSpPr>
          <a:xfrm>
            <a:off x="4343400" y="1714500"/>
            <a:ext cx="3505200" cy="2095500"/>
            <a:chOff x="0" y="0"/>
            <a:chExt cx="3505200" cy="2095500"/>
          </a:xfrm>
        </p:grpSpPr>
        <p:sp>
          <p:nvSpPr>
            <p:cNvPr id="249" name="Google Shape;249;p19"/>
            <p:cNvSpPr/>
            <p:nvPr/>
          </p:nvSpPr>
          <p:spPr>
            <a:xfrm>
              <a:off x="0" y="0"/>
              <a:ext cx="3505200" cy="2095500"/>
            </a:xfrm>
            <a:prstGeom prst="roundRect">
              <a:avLst>
                <a:gd fmla="val 5454" name="adj"/>
              </a:avLst>
            </a:prstGeom>
            <a:solidFill>
              <a:srgbClr val="F0FDFA"/>
            </a:solidFill>
            <a:ln cap="flat" cmpd="sng" w="9525">
              <a:solidFill>
                <a:srgbClr val="99F6E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9"/>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766E"/>
                  </a:solidFill>
                  <a:latin typeface="Plus Jakarta Sans"/>
                  <a:ea typeface="Plus Jakarta Sans"/>
                  <a:cs typeface="Plus Jakarta Sans"/>
                  <a:sym typeface="Plus Jakarta Sans"/>
                </a:rPr>
                <a:t>2. MODIFY SYNTACTIC STRUCTURE</a:t>
              </a:r>
              <a:endParaRPr b="1" sz="1100">
                <a:solidFill>
                  <a:srgbClr val="0F766E"/>
                </a:solidFill>
                <a:latin typeface="Plus Jakarta Sans"/>
                <a:ea typeface="Plus Jakarta Sans"/>
                <a:cs typeface="Plus Jakarta Sans"/>
                <a:sym typeface="Plus Jakarta Sans"/>
              </a:endParaRPr>
            </a:p>
          </p:txBody>
        </p:sp>
        <p:sp>
          <p:nvSpPr>
            <p:cNvPr id="251" name="Google Shape;251;p19"/>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 </a:t>
              </a:r>
              <a:r>
                <a:rPr b="0" lang="en-US" sz="1200">
                  <a:solidFill>
                    <a:srgbClr val="334155"/>
                  </a:solidFill>
                  <a:latin typeface="Plus Jakarta Sans"/>
                  <a:ea typeface="Plus Jakarta Sans"/>
                  <a:cs typeface="Plus Jakarta Sans"/>
                  <a:sym typeface="Plus Jakarta Sans"/>
                </a:rPr>
                <a:t>Because it rained heavily, the outdoor event was canceled.</a:t>
              </a:r>
              <a:endParaRPr b="1"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Paraphrase: </a:t>
              </a:r>
              <a:r>
                <a:rPr b="0" lang="en-US" sz="1200">
                  <a:solidFill>
                    <a:srgbClr val="334155"/>
                  </a:solidFill>
                  <a:latin typeface="Plus Jakarta Sans"/>
                  <a:ea typeface="Plus Jakarta Sans"/>
                  <a:cs typeface="Plus Jakarta Sans"/>
                  <a:sym typeface="Plus Jakarta Sans"/>
                </a:rPr>
                <a:t>Heavy rainfall forced organizers to cancel the outdoor event.</a:t>
              </a:r>
              <a:endParaRPr b="1" sz="1200">
                <a:solidFill>
                  <a:srgbClr val="334155"/>
                </a:solidFill>
                <a:latin typeface="Plus Jakarta Sans"/>
                <a:ea typeface="Plus Jakarta Sans"/>
                <a:cs typeface="Plus Jakarta Sans"/>
                <a:sym typeface="Plus Jakarta Sans"/>
              </a:endParaRPr>
            </a:p>
          </p:txBody>
        </p:sp>
      </p:grpSp>
      <p:grpSp>
        <p:nvGrpSpPr>
          <p:cNvPr id="252" name="Google Shape;252;p19"/>
          <p:cNvGrpSpPr/>
          <p:nvPr/>
        </p:nvGrpSpPr>
        <p:grpSpPr>
          <a:xfrm>
            <a:off x="8039100" y="1714500"/>
            <a:ext cx="3505200" cy="2095500"/>
            <a:chOff x="0" y="0"/>
            <a:chExt cx="3505200" cy="2095500"/>
          </a:xfrm>
        </p:grpSpPr>
        <p:sp>
          <p:nvSpPr>
            <p:cNvPr id="253" name="Google Shape;253;p19"/>
            <p:cNvSpPr/>
            <p:nvPr/>
          </p:nvSpPr>
          <p:spPr>
            <a:xfrm>
              <a:off x="0" y="0"/>
              <a:ext cx="3505200" cy="2095500"/>
            </a:xfrm>
            <a:prstGeom prst="roundRect">
              <a:avLst>
                <a:gd fmla="val 5454" name="adj"/>
              </a:avLst>
            </a:prstGeom>
            <a:solidFill>
              <a:srgbClr val="FFF7ED"/>
            </a:solidFill>
            <a:ln cap="flat" cmpd="sng" w="9525">
              <a:solidFill>
                <a:srgbClr val="FFEDD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19"/>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C2410C"/>
                  </a:solidFill>
                  <a:latin typeface="Plus Jakarta Sans"/>
                  <a:ea typeface="Plus Jakarta Sans"/>
                  <a:cs typeface="Plus Jakarta Sans"/>
                  <a:sym typeface="Plus Jakarta Sans"/>
                </a:rPr>
                <a:t>3. PRESERVE CORE MEANING</a:t>
              </a:r>
              <a:endParaRPr b="1" sz="1100">
                <a:solidFill>
                  <a:srgbClr val="C2410C"/>
                </a:solidFill>
                <a:latin typeface="Plus Jakarta Sans"/>
                <a:ea typeface="Plus Jakarta Sans"/>
                <a:cs typeface="Plus Jakarta Sans"/>
                <a:sym typeface="Plus Jakarta Sans"/>
              </a:endParaRPr>
            </a:p>
          </p:txBody>
        </p:sp>
        <p:sp>
          <p:nvSpPr>
            <p:cNvPr id="255" name="Google Shape;255;p19"/>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 </a:t>
              </a:r>
              <a:r>
                <a:rPr b="0" lang="en-US" sz="1200">
                  <a:solidFill>
                    <a:srgbClr val="334155"/>
                  </a:solidFill>
                  <a:latin typeface="Plus Jakarta Sans"/>
                  <a:ea typeface="Plus Jakarta Sans"/>
                  <a:cs typeface="Plus Jakarta Sans"/>
                  <a:sym typeface="Plus Jakarta Sans"/>
                </a:rPr>
                <a:t>Automated systems reduce human error in surgical procedures.</a:t>
              </a:r>
              <a:endParaRPr b="1"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Paraphrase: </a:t>
              </a:r>
              <a:r>
                <a:rPr b="0" lang="en-US" sz="1200">
                  <a:solidFill>
                    <a:srgbClr val="334155"/>
                  </a:solidFill>
                  <a:latin typeface="Plus Jakarta Sans"/>
                  <a:ea typeface="Plus Jakarta Sans"/>
                  <a:cs typeface="Plus Jakarta Sans"/>
                  <a:sym typeface="Plus Jakarta Sans"/>
                </a:rPr>
                <a:t>Surgical precision improves when healthcare providers utilize automation.</a:t>
              </a:r>
              <a:endParaRPr b="1" sz="1200">
                <a:solidFill>
                  <a:srgbClr val="334155"/>
                </a:solidFill>
                <a:latin typeface="Plus Jakarta Sans"/>
                <a:ea typeface="Plus Jakarta Sans"/>
                <a:cs typeface="Plus Jakarta Sans"/>
                <a:sym typeface="Plus Jakarta Sans"/>
              </a:endParaRPr>
            </a:p>
          </p:txBody>
        </p:sp>
      </p:grpSp>
      <p:grpSp>
        <p:nvGrpSpPr>
          <p:cNvPr id="256" name="Google Shape;256;p19"/>
          <p:cNvGrpSpPr/>
          <p:nvPr/>
        </p:nvGrpSpPr>
        <p:grpSpPr>
          <a:xfrm>
            <a:off x="647700" y="4095750"/>
            <a:ext cx="3505200" cy="2095500"/>
            <a:chOff x="0" y="0"/>
            <a:chExt cx="3505200" cy="2095500"/>
          </a:xfrm>
        </p:grpSpPr>
        <p:sp>
          <p:nvSpPr>
            <p:cNvPr id="257" name="Google Shape;257;p19"/>
            <p:cNvSpPr/>
            <p:nvPr/>
          </p:nvSpPr>
          <p:spPr>
            <a:xfrm>
              <a:off x="0" y="0"/>
              <a:ext cx="3505200" cy="2095500"/>
            </a:xfrm>
            <a:prstGeom prst="roundRect">
              <a:avLst>
                <a:gd fmla="val 5454" name="adj"/>
              </a:avLst>
            </a:prstGeom>
            <a:solidFill>
              <a:srgbClr val="ECFEFF"/>
            </a:solidFill>
            <a:ln cap="flat" cmpd="sng" w="9525">
              <a:solidFill>
                <a:srgbClr val="A5F3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19"/>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E7490"/>
                  </a:solidFill>
                  <a:latin typeface="Plus Jakarta Sans"/>
                  <a:ea typeface="Plus Jakarta Sans"/>
                  <a:cs typeface="Plus Jakarta Sans"/>
                  <a:sym typeface="Plus Jakarta Sans"/>
                </a:rPr>
                <a:t>4. MAINTAIN SIMILAR LENGTH</a:t>
              </a:r>
              <a:endParaRPr b="1" sz="1100">
                <a:solidFill>
                  <a:srgbClr val="0E7490"/>
                </a:solidFill>
                <a:latin typeface="Plus Jakarta Sans"/>
                <a:ea typeface="Plus Jakarta Sans"/>
                <a:cs typeface="Plus Jakarta Sans"/>
                <a:sym typeface="Plus Jakarta Sans"/>
              </a:endParaRPr>
            </a:p>
          </p:txBody>
        </p:sp>
        <p:sp>
          <p:nvSpPr>
            <p:cNvPr id="259" name="Google Shape;259;p19"/>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 </a:t>
              </a:r>
              <a:r>
                <a:rPr b="0" lang="en-US" sz="1200">
                  <a:solidFill>
                    <a:srgbClr val="334155"/>
                  </a:solidFill>
                  <a:latin typeface="Plus Jakarta Sans"/>
                  <a:ea typeface="Plus Jakarta Sans"/>
                  <a:cs typeface="Plus Jakarta Sans"/>
                  <a:sym typeface="Plus Jakarta Sans"/>
                </a:rPr>
                <a:t>Technology integration improves classroom engagement and overall test performance.</a:t>
              </a:r>
              <a:endParaRPr b="1"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Paraphrase: </a:t>
              </a:r>
              <a:r>
                <a:rPr b="0" lang="en-US" sz="1200">
                  <a:solidFill>
                    <a:srgbClr val="334155"/>
                  </a:solidFill>
                  <a:latin typeface="Plus Jakarta Sans"/>
                  <a:ea typeface="Plus Jakarta Sans"/>
                  <a:cs typeface="Plus Jakarta Sans"/>
                  <a:sym typeface="Plus Jakarta Sans"/>
                </a:rPr>
                <a:t>Adopting digital tools boosts student participation and final exam scores.</a:t>
              </a:r>
              <a:endParaRPr b="1" sz="1200">
                <a:solidFill>
                  <a:srgbClr val="334155"/>
                </a:solidFill>
                <a:latin typeface="Plus Jakarta Sans"/>
                <a:ea typeface="Plus Jakarta Sans"/>
                <a:cs typeface="Plus Jakarta Sans"/>
                <a:sym typeface="Plus Jakarta Sans"/>
              </a:endParaRPr>
            </a:p>
          </p:txBody>
        </p:sp>
      </p:grpSp>
      <p:grpSp>
        <p:nvGrpSpPr>
          <p:cNvPr id="260" name="Google Shape;260;p19"/>
          <p:cNvGrpSpPr/>
          <p:nvPr/>
        </p:nvGrpSpPr>
        <p:grpSpPr>
          <a:xfrm>
            <a:off x="4343400" y="4095750"/>
            <a:ext cx="3505200" cy="2095500"/>
            <a:chOff x="0" y="0"/>
            <a:chExt cx="3505200" cy="2095500"/>
          </a:xfrm>
        </p:grpSpPr>
        <p:sp>
          <p:nvSpPr>
            <p:cNvPr id="261" name="Google Shape;261;p19"/>
            <p:cNvSpPr/>
            <p:nvPr/>
          </p:nvSpPr>
          <p:spPr>
            <a:xfrm>
              <a:off x="0" y="0"/>
              <a:ext cx="3505200" cy="2095500"/>
            </a:xfrm>
            <a:prstGeom prst="roundRect">
              <a:avLst>
                <a:gd fmla="val 5454" name="adj"/>
              </a:avLst>
            </a:prstGeom>
            <a:solidFill>
              <a:srgbClr val="FEF2F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19"/>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B91C1C"/>
                  </a:solidFill>
                  <a:latin typeface="Plus Jakarta Sans"/>
                  <a:ea typeface="Plus Jakarta Sans"/>
                  <a:cs typeface="Plus Jakarta Sans"/>
                  <a:sym typeface="Plus Jakarta Sans"/>
                </a:rPr>
                <a:t>5. BEYOND SIMPLE WORD SWAPS</a:t>
              </a:r>
              <a:endParaRPr b="1" sz="1100">
                <a:solidFill>
                  <a:srgbClr val="B91C1C"/>
                </a:solidFill>
                <a:latin typeface="Plus Jakarta Sans"/>
                <a:ea typeface="Plus Jakarta Sans"/>
                <a:cs typeface="Plus Jakarta Sans"/>
                <a:sym typeface="Plus Jakarta Sans"/>
              </a:endParaRPr>
            </a:p>
          </p:txBody>
        </p:sp>
        <p:sp>
          <p:nvSpPr>
            <p:cNvPr id="263" name="Google Shape;263;p19"/>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 </a:t>
              </a:r>
              <a:r>
                <a:rPr b="0" lang="en-US" sz="1200">
                  <a:solidFill>
                    <a:srgbClr val="334155"/>
                  </a:solidFill>
                  <a:latin typeface="Plus Jakarta Sans"/>
                  <a:ea typeface="Plus Jakarta Sans"/>
                  <a:cs typeface="Plus Jakarta Sans"/>
                  <a:sym typeface="Plus Jakarta Sans"/>
                </a:rPr>
                <a:t>Employees need effective leadership to maintain high productivity levels.</a:t>
              </a:r>
              <a:endParaRPr b="1"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Paraphrase: </a:t>
              </a:r>
              <a:r>
                <a:rPr b="0" lang="en-US" sz="1200">
                  <a:solidFill>
                    <a:srgbClr val="334155"/>
                  </a:solidFill>
                  <a:latin typeface="Plus Jakarta Sans"/>
                  <a:ea typeface="Plus Jakarta Sans"/>
                  <a:cs typeface="Plus Jakarta Sans"/>
                  <a:sym typeface="Plus Jakarta Sans"/>
                </a:rPr>
                <a:t>Strong managerial guidance directly fosters consistent workplace output.</a:t>
              </a:r>
              <a:endParaRPr b="1" sz="1200">
                <a:solidFill>
                  <a:srgbClr val="334155"/>
                </a:solidFill>
                <a:latin typeface="Plus Jakarta Sans"/>
                <a:ea typeface="Plus Jakarta Sans"/>
                <a:cs typeface="Plus Jakarta Sans"/>
                <a:sym typeface="Plus Jakarta Sans"/>
              </a:endParaRPr>
            </a:p>
          </p:txBody>
        </p:sp>
      </p:grpSp>
      <p:grpSp>
        <p:nvGrpSpPr>
          <p:cNvPr id="264" name="Google Shape;264;p19"/>
          <p:cNvGrpSpPr/>
          <p:nvPr/>
        </p:nvGrpSpPr>
        <p:grpSpPr>
          <a:xfrm>
            <a:off x="8039100" y="4095750"/>
            <a:ext cx="3505200" cy="2095500"/>
            <a:chOff x="0" y="0"/>
            <a:chExt cx="3505200" cy="2095500"/>
          </a:xfrm>
        </p:grpSpPr>
        <p:sp>
          <p:nvSpPr>
            <p:cNvPr id="265" name="Google Shape;265;p19"/>
            <p:cNvSpPr/>
            <p:nvPr/>
          </p:nvSpPr>
          <p:spPr>
            <a:xfrm>
              <a:off x="0" y="0"/>
              <a:ext cx="3505200" cy="2095500"/>
            </a:xfrm>
            <a:prstGeom prst="roundRect">
              <a:avLst>
                <a:gd fmla="val 5454"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19"/>
            <p:cNvSpPr txBox="1"/>
            <p:nvPr/>
          </p:nvSpPr>
          <p:spPr>
            <a:xfrm>
              <a:off x="238125" y="190500"/>
              <a:ext cx="3029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334155"/>
                  </a:solidFill>
                  <a:latin typeface="Plus Jakarta Sans"/>
                  <a:ea typeface="Plus Jakarta Sans"/>
                  <a:cs typeface="Plus Jakarta Sans"/>
                  <a:sym typeface="Plus Jakarta Sans"/>
                </a:rPr>
                <a:t>6. PREVENT MOSAIC PLAGIARISM</a:t>
              </a:r>
              <a:endParaRPr b="1" sz="1100">
                <a:solidFill>
                  <a:srgbClr val="334155"/>
                </a:solidFill>
                <a:latin typeface="Plus Jakarta Sans"/>
                <a:ea typeface="Plus Jakarta Sans"/>
                <a:cs typeface="Plus Jakarta Sans"/>
                <a:sym typeface="Plus Jakarta Sans"/>
              </a:endParaRPr>
            </a:p>
          </p:txBody>
        </p:sp>
        <p:sp>
          <p:nvSpPr>
            <p:cNvPr id="267" name="Google Shape;267;p19"/>
            <p:cNvSpPr txBox="1"/>
            <p:nvPr/>
          </p:nvSpPr>
          <p:spPr>
            <a:xfrm>
              <a:off x="238125" y="523875"/>
              <a:ext cx="30291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34155"/>
                  </a:solidFill>
                  <a:latin typeface="Plus Jakarta Sans"/>
                  <a:ea typeface="Plus Jakarta Sans"/>
                  <a:cs typeface="Plus Jakarta Sans"/>
                  <a:sym typeface="Plus Jakarta Sans"/>
                </a:rPr>
                <a:t>Original: </a:t>
              </a:r>
              <a:r>
                <a:rPr b="0" lang="en-US" sz="1200">
                  <a:solidFill>
                    <a:srgbClr val="334155"/>
                  </a:solidFill>
                  <a:latin typeface="Plus Jakarta Sans"/>
                  <a:ea typeface="Plus Jakarta Sans"/>
                  <a:cs typeface="Plus Jakarta Sans"/>
                  <a:sym typeface="Plus Jakarta Sans"/>
                </a:rPr>
                <a:t>Urbanization alters microclimates, leading to localized heat island effects.</a:t>
              </a:r>
              <a:endParaRPr b="1" sz="12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1200">
                  <a:solidFill>
                    <a:srgbClr val="334155"/>
                  </a:solidFill>
                  <a:latin typeface="Plus Jakarta Sans"/>
                  <a:ea typeface="Plus Jakarta Sans"/>
                  <a:cs typeface="Plus Jakarta Sans"/>
                  <a:sym typeface="Plus Jakarta Sans"/>
                </a:rPr>
                <a:t>Paraphrase: </a:t>
              </a:r>
              <a:r>
                <a:rPr b="0" lang="en-US" sz="1200">
                  <a:solidFill>
                    <a:srgbClr val="334155"/>
                  </a:solidFill>
                  <a:latin typeface="Plus Jakarta Sans"/>
                  <a:ea typeface="Plus Jakarta Sans"/>
                  <a:cs typeface="Plus Jakarta Sans"/>
                  <a:sym typeface="Plus Jakarta Sans"/>
                </a:rPr>
                <a:t>City expansion creates warmer microenvironments across metropolitan regions.</a:t>
              </a:r>
              <a:endParaRPr b="1" sz="1200">
                <a:solidFill>
                  <a:srgbClr val="334155"/>
                </a:solidFill>
                <a:latin typeface="Plus Jakarta Sans"/>
                <a:ea typeface="Plus Jakarta Sans"/>
                <a:cs typeface="Plus Jakarta Sans"/>
                <a:sym typeface="Plus Jakarta Sa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0"/>
          <p:cNvSpPr/>
          <p:nvPr/>
        </p:nvSpPr>
        <p:spPr>
          <a:xfrm>
            <a:off x="647700" y="2437358"/>
            <a:ext cx="3505200" cy="1269600"/>
          </a:xfrm>
          <a:prstGeom prst="roundRect">
            <a:avLst>
              <a:gd fmla="val 9003" name="adj"/>
            </a:avLst>
          </a:prstGeom>
          <a:solidFill>
            <a:srgbClr val="EFF6FF"/>
          </a:solidFill>
          <a:ln cap="flat" cmpd="sng" w="9525">
            <a:solidFill>
              <a:srgbClr val="BFDB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0"/>
          <p:cNvSpPr/>
          <p:nvPr/>
        </p:nvSpPr>
        <p:spPr>
          <a:xfrm>
            <a:off x="4343400" y="2437358"/>
            <a:ext cx="3505200" cy="1269600"/>
          </a:xfrm>
          <a:prstGeom prst="roundRect">
            <a:avLst>
              <a:gd fmla="val 9003" name="adj"/>
            </a:avLst>
          </a:prstGeom>
          <a:solidFill>
            <a:srgbClr val="F0FDF4"/>
          </a:solidFill>
          <a:ln cap="flat" cmpd="sng" w="9525">
            <a:solidFill>
              <a:srgbClr val="BBF7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0"/>
          <p:cNvSpPr/>
          <p:nvPr/>
        </p:nvSpPr>
        <p:spPr>
          <a:xfrm>
            <a:off x="8039100" y="2437358"/>
            <a:ext cx="3505200" cy="1269600"/>
          </a:xfrm>
          <a:prstGeom prst="roundRect">
            <a:avLst>
              <a:gd fmla="val 9003" name="adj"/>
            </a:avLst>
          </a:prstGeom>
          <a:solidFill>
            <a:srgbClr val="FEFCE8"/>
          </a:solidFill>
          <a:ln cap="flat" cmpd="sng" w="9525">
            <a:solidFill>
              <a:srgbClr val="FEF0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0"/>
          <p:cNvSpPr/>
          <p:nvPr/>
        </p:nvSpPr>
        <p:spPr>
          <a:xfrm>
            <a:off x="647700" y="3897362"/>
            <a:ext cx="3505200" cy="1513800"/>
          </a:xfrm>
          <a:prstGeom prst="roundRect">
            <a:avLst>
              <a:gd fmla="val 7550" name="adj"/>
            </a:avLst>
          </a:prstGeom>
          <a:solidFill>
            <a:srgbClr val="FAF5FF"/>
          </a:solidFill>
          <a:ln cap="flat" cmpd="sng" w="9525">
            <a:solidFill>
              <a:srgbClr val="E9D5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0"/>
          <p:cNvSpPr/>
          <p:nvPr/>
        </p:nvSpPr>
        <p:spPr>
          <a:xfrm>
            <a:off x="4343400" y="3897362"/>
            <a:ext cx="3505200" cy="1513800"/>
          </a:xfrm>
          <a:prstGeom prst="roundRect">
            <a:avLst>
              <a:gd fmla="val 7550" name="adj"/>
            </a:avLst>
          </a:prstGeom>
          <a:solidFill>
            <a:srgbClr val="FDF2F8"/>
          </a:solidFill>
          <a:ln cap="flat" cmpd="sng" w="9525">
            <a:solidFill>
              <a:srgbClr val="FBCF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0"/>
          <p:cNvSpPr/>
          <p:nvPr/>
        </p:nvSpPr>
        <p:spPr>
          <a:xfrm>
            <a:off x="8039100" y="3897362"/>
            <a:ext cx="3505200" cy="1513800"/>
          </a:xfrm>
          <a:prstGeom prst="roundRect">
            <a:avLst>
              <a:gd fmla="val 7550" name="adj"/>
            </a:avLst>
          </a:prstGeom>
          <a:solidFill>
            <a:srgbClr val="F8FAFC"/>
          </a:solidFill>
          <a:ln cap="flat" cmpd="sng" w="9525">
            <a:solidFill>
              <a:srgbClr val="CBD5E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0"/>
          <p:cNvSpPr txBox="1"/>
          <p:nvPr/>
        </p:nvSpPr>
        <p:spPr>
          <a:xfrm>
            <a:off x="647700" y="752475"/>
            <a:ext cx="11544300" cy="4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2700" u="none" strike="noStrike">
                <a:solidFill>
                  <a:srgbClr val="0F172A"/>
                </a:solidFill>
                <a:latin typeface="Plus Jakarta Sans"/>
                <a:ea typeface="Plus Jakarta Sans"/>
                <a:cs typeface="Plus Jakarta Sans"/>
                <a:sym typeface="Plus Jakarta Sans"/>
              </a:rPr>
              <a:t>Key Transformation Techniques</a:t>
            </a:r>
            <a:endParaRPr b="1" i="0" sz="2700" u="none" strike="noStrike">
              <a:solidFill>
                <a:srgbClr val="0F172A"/>
              </a:solidFill>
              <a:latin typeface="Plus Jakarta Sans"/>
              <a:ea typeface="Plus Jakarta Sans"/>
              <a:cs typeface="Plus Jakarta Sans"/>
              <a:sym typeface="Plus Jakarta Sans"/>
            </a:endParaRPr>
          </a:p>
        </p:txBody>
      </p:sp>
      <p:sp>
        <p:nvSpPr>
          <p:cNvPr id="279" name="Google Shape;279;p20"/>
          <p:cNvSpPr txBox="1"/>
          <p:nvPr/>
        </p:nvSpPr>
        <p:spPr>
          <a:xfrm>
            <a:off x="885825" y="2713587"/>
            <a:ext cx="3786300" cy="150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975" u="none" strike="noStrike">
                <a:solidFill>
                  <a:srgbClr val="2563EB"/>
                </a:solidFill>
                <a:latin typeface="Plus Jakarta Sans"/>
                <a:ea typeface="Plus Jakarta Sans"/>
                <a:cs typeface="Plus Jakarta Sans"/>
                <a:sym typeface="Plus Jakarta Sans"/>
              </a:rPr>
              <a:t>METHOD 1</a:t>
            </a:r>
            <a:endParaRPr b="1" i="0" sz="975" u="none" strike="noStrike">
              <a:solidFill>
                <a:srgbClr val="2563EB"/>
              </a:solidFill>
              <a:latin typeface="Plus Jakarta Sans"/>
              <a:ea typeface="Plus Jakarta Sans"/>
              <a:cs typeface="Plus Jakarta Sans"/>
              <a:sym typeface="Plus Jakarta Sans"/>
            </a:endParaRPr>
          </a:p>
        </p:txBody>
      </p:sp>
      <p:sp>
        <p:nvSpPr>
          <p:cNvPr id="280" name="Google Shape;280;p20"/>
          <p:cNvSpPr txBox="1"/>
          <p:nvPr/>
        </p:nvSpPr>
        <p:spPr>
          <a:xfrm>
            <a:off x="885825" y="2942187"/>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1E40AF"/>
                </a:solidFill>
                <a:latin typeface="Plus Jakarta Sans"/>
                <a:ea typeface="Plus Jakarta Sans"/>
                <a:cs typeface="Plus Jakarta Sans"/>
                <a:sym typeface="Plus Jakarta Sans"/>
              </a:rPr>
              <a:t>Transform active structures into passive ones.</a:t>
            </a:r>
            <a:endParaRPr b="1" i="0" sz="1425" u="none" strike="noStrike">
              <a:solidFill>
                <a:srgbClr val="1E40AF"/>
              </a:solidFill>
              <a:latin typeface="Plus Jakarta Sans"/>
              <a:ea typeface="Plus Jakarta Sans"/>
              <a:cs typeface="Plus Jakarta Sans"/>
              <a:sym typeface="Plus Jakarta Sans"/>
            </a:endParaRPr>
          </a:p>
        </p:txBody>
      </p:sp>
      <p:sp>
        <p:nvSpPr>
          <p:cNvPr id="281" name="Google Shape;281;p20"/>
          <p:cNvSpPr txBox="1"/>
          <p:nvPr/>
        </p:nvSpPr>
        <p:spPr>
          <a:xfrm>
            <a:off x="4581525" y="2713587"/>
            <a:ext cx="3786300" cy="150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975" u="none" strike="noStrike">
                <a:solidFill>
                  <a:srgbClr val="16A34A"/>
                </a:solidFill>
                <a:latin typeface="Plus Jakarta Sans"/>
                <a:ea typeface="Plus Jakarta Sans"/>
                <a:cs typeface="Plus Jakarta Sans"/>
                <a:sym typeface="Plus Jakarta Sans"/>
              </a:rPr>
              <a:t>METHOD 2</a:t>
            </a:r>
            <a:endParaRPr b="1" i="0" sz="975" u="none" strike="noStrike">
              <a:solidFill>
                <a:srgbClr val="16A34A"/>
              </a:solidFill>
              <a:latin typeface="Plus Jakarta Sans"/>
              <a:ea typeface="Plus Jakarta Sans"/>
              <a:cs typeface="Plus Jakarta Sans"/>
              <a:sym typeface="Plus Jakarta Sans"/>
            </a:endParaRPr>
          </a:p>
        </p:txBody>
      </p:sp>
      <p:sp>
        <p:nvSpPr>
          <p:cNvPr id="282" name="Google Shape;282;p20"/>
          <p:cNvSpPr txBox="1"/>
          <p:nvPr/>
        </p:nvSpPr>
        <p:spPr>
          <a:xfrm>
            <a:off x="4581525" y="2942187"/>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166534"/>
                </a:solidFill>
                <a:latin typeface="Plus Jakarta Sans"/>
                <a:ea typeface="Plus Jakarta Sans"/>
                <a:cs typeface="Plus Jakarta Sans"/>
                <a:sym typeface="Plus Jakarta Sans"/>
              </a:rPr>
              <a:t>Use contextually precise academic synonyms.</a:t>
            </a:r>
            <a:endParaRPr b="1" i="0" sz="1425" u="none" strike="noStrike">
              <a:solidFill>
                <a:srgbClr val="166534"/>
              </a:solidFill>
              <a:latin typeface="Plus Jakarta Sans"/>
              <a:ea typeface="Plus Jakarta Sans"/>
              <a:cs typeface="Plus Jakarta Sans"/>
              <a:sym typeface="Plus Jakarta Sans"/>
            </a:endParaRPr>
          </a:p>
        </p:txBody>
      </p:sp>
      <p:sp>
        <p:nvSpPr>
          <p:cNvPr id="283" name="Google Shape;283;p20"/>
          <p:cNvSpPr txBox="1"/>
          <p:nvPr/>
        </p:nvSpPr>
        <p:spPr>
          <a:xfrm>
            <a:off x="8277225" y="2713587"/>
            <a:ext cx="3786300" cy="150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975" u="none" strike="noStrike">
                <a:solidFill>
                  <a:srgbClr val="0F172A"/>
                </a:solidFill>
                <a:latin typeface="Plus Jakarta Sans"/>
                <a:ea typeface="Plus Jakarta Sans"/>
                <a:cs typeface="Plus Jakarta Sans"/>
                <a:sym typeface="Plus Jakarta Sans"/>
              </a:rPr>
              <a:t>METHOD 3</a:t>
            </a:r>
            <a:endParaRPr b="1" i="0" sz="975" u="none" strike="noStrike">
              <a:solidFill>
                <a:srgbClr val="0F172A"/>
              </a:solidFill>
              <a:latin typeface="Plus Jakarta Sans"/>
              <a:ea typeface="Plus Jakarta Sans"/>
              <a:cs typeface="Plus Jakarta Sans"/>
              <a:sym typeface="Plus Jakarta Sans"/>
            </a:endParaRPr>
          </a:p>
        </p:txBody>
      </p:sp>
      <p:sp>
        <p:nvSpPr>
          <p:cNvPr id="284" name="Google Shape;284;p20"/>
          <p:cNvSpPr txBox="1"/>
          <p:nvPr/>
        </p:nvSpPr>
        <p:spPr>
          <a:xfrm>
            <a:off x="8277225" y="2942187"/>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854D0E"/>
                </a:solidFill>
                <a:latin typeface="Plus Jakarta Sans"/>
                <a:ea typeface="Plus Jakarta Sans"/>
                <a:cs typeface="Plus Jakarta Sans"/>
                <a:sym typeface="Plus Jakarta Sans"/>
              </a:rPr>
              <a:t>Modify grammatical categories of terms.</a:t>
            </a:r>
            <a:endParaRPr b="1" i="0" sz="1425" u="none" strike="noStrike">
              <a:solidFill>
                <a:srgbClr val="854D0E"/>
              </a:solidFill>
              <a:latin typeface="Plus Jakarta Sans"/>
              <a:ea typeface="Plus Jakarta Sans"/>
              <a:cs typeface="Plus Jakarta Sans"/>
              <a:sym typeface="Plus Jakarta Sans"/>
            </a:endParaRPr>
          </a:p>
        </p:txBody>
      </p:sp>
      <p:sp>
        <p:nvSpPr>
          <p:cNvPr id="285" name="Google Shape;285;p20"/>
          <p:cNvSpPr txBox="1"/>
          <p:nvPr/>
        </p:nvSpPr>
        <p:spPr>
          <a:xfrm>
            <a:off x="885825" y="4173588"/>
            <a:ext cx="3786300" cy="150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975" u="none" strike="noStrike">
                <a:solidFill>
                  <a:srgbClr val="9333EA"/>
                </a:solidFill>
                <a:latin typeface="Plus Jakarta Sans"/>
                <a:ea typeface="Plus Jakarta Sans"/>
                <a:cs typeface="Plus Jakarta Sans"/>
                <a:sym typeface="Plus Jakarta Sans"/>
              </a:rPr>
              <a:t>METHOD 4</a:t>
            </a:r>
            <a:endParaRPr b="1" i="0" sz="975" u="none" strike="noStrike">
              <a:solidFill>
                <a:srgbClr val="9333EA"/>
              </a:solidFill>
              <a:latin typeface="Plus Jakarta Sans"/>
              <a:ea typeface="Plus Jakarta Sans"/>
              <a:cs typeface="Plus Jakarta Sans"/>
              <a:sym typeface="Plus Jakarta Sans"/>
            </a:endParaRPr>
          </a:p>
        </p:txBody>
      </p:sp>
      <p:sp>
        <p:nvSpPr>
          <p:cNvPr id="286" name="Google Shape;286;p20"/>
          <p:cNvSpPr txBox="1"/>
          <p:nvPr/>
        </p:nvSpPr>
        <p:spPr>
          <a:xfrm>
            <a:off x="885825" y="4402188"/>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6B21A8"/>
                </a:solidFill>
                <a:latin typeface="Plus Jakarta Sans"/>
                <a:ea typeface="Plus Jakarta Sans"/>
                <a:cs typeface="Plus Jakarta Sans"/>
                <a:sym typeface="Plus Jakarta Sans"/>
              </a:rPr>
              <a:t>Reorder logical sequences of discourse.</a:t>
            </a:r>
            <a:endParaRPr b="1" i="0" sz="1425" u="none" strike="noStrike">
              <a:solidFill>
                <a:srgbClr val="6B21A8"/>
              </a:solidFill>
              <a:latin typeface="Plus Jakarta Sans"/>
              <a:ea typeface="Plus Jakarta Sans"/>
              <a:cs typeface="Plus Jakarta Sans"/>
              <a:sym typeface="Plus Jakarta Sans"/>
            </a:endParaRPr>
          </a:p>
        </p:txBody>
      </p:sp>
      <p:sp>
        <p:nvSpPr>
          <p:cNvPr id="287" name="Google Shape;287;p20"/>
          <p:cNvSpPr txBox="1"/>
          <p:nvPr/>
        </p:nvSpPr>
        <p:spPr>
          <a:xfrm>
            <a:off x="4581525" y="4173588"/>
            <a:ext cx="3786300" cy="150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975" u="none" strike="noStrike">
                <a:solidFill>
                  <a:srgbClr val="DB2777"/>
                </a:solidFill>
                <a:latin typeface="Plus Jakarta Sans"/>
                <a:ea typeface="Plus Jakarta Sans"/>
                <a:cs typeface="Plus Jakarta Sans"/>
                <a:sym typeface="Plus Jakarta Sans"/>
              </a:rPr>
              <a:t>METHOD 5</a:t>
            </a:r>
            <a:endParaRPr b="1" i="0" sz="975" u="none" strike="noStrike">
              <a:solidFill>
                <a:srgbClr val="DB2777"/>
              </a:solidFill>
              <a:latin typeface="Plus Jakarta Sans"/>
              <a:ea typeface="Plus Jakarta Sans"/>
              <a:cs typeface="Plus Jakarta Sans"/>
              <a:sym typeface="Plus Jakarta Sans"/>
            </a:endParaRPr>
          </a:p>
        </p:txBody>
      </p:sp>
      <p:sp>
        <p:nvSpPr>
          <p:cNvPr id="288" name="Google Shape;288;p20"/>
          <p:cNvSpPr txBox="1"/>
          <p:nvPr/>
        </p:nvSpPr>
        <p:spPr>
          <a:xfrm>
            <a:off x="4581525" y="4402188"/>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9D174D"/>
                </a:solidFill>
                <a:latin typeface="Plus Jakarta Sans"/>
                <a:ea typeface="Plus Jakarta Sans"/>
                <a:cs typeface="Plus Jakarta Sans"/>
                <a:sym typeface="Plus Jakarta Sans"/>
              </a:rPr>
              <a:t>Combine independent clauses with subordination.</a:t>
            </a:r>
            <a:endParaRPr b="1" i="0" sz="1425" u="none" strike="noStrike">
              <a:solidFill>
                <a:srgbClr val="9D174D"/>
              </a:solidFill>
              <a:latin typeface="Plus Jakarta Sans"/>
              <a:ea typeface="Plus Jakarta Sans"/>
              <a:cs typeface="Plus Jakarta Sans"/>
              <a:sym typeface="Plus Jakarta Sans"/>
            </a:endParaRPr>
          </a:p>
        </p:txBody>
      </p:sp>
      <p:sp>
        <p:nvSpPr>
          <p:cNvPr id="289" name="Google Shape;289;p20"/>
          <p:cNvSpPr txBox="1"/>
          <p:nvPr/>
        </p:nvSpPr>
        <p:spPr>
          <a:xfrm>
            <a:off x="8277225" y="4173588"/>
            <a:ext cx="3786300" cy="150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975" u="none" strike="noStrike">
                <a:solidFill>
                  <a:srgbClr val="475569"/>
                </a:solidFill>
                <a:latin typeface="Plus Jakarta Sans"/>
                <a:ea typeface="Plus Jakarta Sans"/>
                <a:cs typeface="Plus Jakarta Sans"/>
                <a:sym typeface="Plus Jakarta Sans"/>
              </a:rPr>
              <a:t>METHOD 6</a:t>
            </a:r>
            <a:endParaRPr b="1" i="0" sz="975" u="none" strike="noStrike">
              <a:solidFill>
                <a:srgbClr val="475569"/>
              </a:solidFill>
              <a:latin typeface="Plus Jakarta Sans"/>
              <a:ea typeface="Plus Jakarta Sans"/>
              <a:cs typeface="Plus Jakarta Sans"/>
              <a:sym typeface="Plus Jakarta Sans"/>
            </a:endParaRPr>
          </a:p>
        </p:txBody>
      </p:sp>
      <p:sp>
        <p:nvSpPr>
          <p:cNvPr id="290" name="Google Shape;290;p20"/>
          <p:cNvSpPr txBox="1"/>
          <p:nvPr/>
        </p:nvSpPr>
        <p:spPr>
          <a:xfrm>
            <a:off x="8277225" y="4402188"/>
            <a:ext cx="31242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425" u="none" strike="noStrike">
                <a:solidFill>
                  <a:srgbClr val="1E293B"/>
                </a:solidFill>
                <a:latin typeface="Plus Jakarta Sans"/>
                <a:ea typeface="Plus Jakarta Sans"/>
                <a:cs typeface="Plus Jakarta Sans"/>
                <a:sym typeface="Plus Jakarta Sans"/>
              </a:rPr>
              <a:t>Integrate reporting verbs with citation.</a:t>
            </a:r>
            <a:endParaRPr b="1" i="0" sz="1425" u="none" strike="noStrike">
              <a:solidFill>
                <a:srgbClr val="1E293B"/>
              </a:solidFill>
              <a:latin typeface="Plus Jakarta Sans"/>
              <a:ea typeface="Plus Jakarta Sans"/>
              <a:cs typeface="Plus Jakarta Sans"/>
              <a:sym typeface="Plus Jakart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sp>
        <p:nvSpPr>
          <p:cNvPr id="295" name="Google Shape;295;p21"/>
          <p:cNvSpPr/>
          <p:nvPr/>
        </p:nvSpPr>
        <p:spPr>
          <a:xfrm>
            <a:off x="609600" y="2454026"/>
            <a:ext cx="6090900" cy="2759700"/>
          </a:xfrm>
          <a:prstGeom prst="roundRect">
            <a:avLst>
              <a:gd fmla="val 4832"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21"/>
          <p:cNvSpPr/>
          <p:nvPr/>
        </p:nvSpPr>
        <p:spPr>
          <a:xfrm>
            <a:off x="885825" y="2701676"/>
            <a:ext cx="2076600" cy="219000"/>
          </a:xfrm>
          <a:prstGeom prst="roundRect">
            <a:avLst>
              <a:gd fmla="val 26086" name="adj"/>
            </a:avLst>
          </a:prstGeom>
          <a:solidFill>
            <a:srgbClr val="E0F2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21"/>
          <p:cNvSpPr/>
          <p:nvPr/>
        </p:nvSpPr>
        <p:spPr>
          <a:xfrm>
            <a:off x="885825" y="4442073"/>
            <a:ext cx="5538300" cy="533400"/>
          </a:xfrm>
          <a:prstGeom prst="roundRect">
            <a:avLst>
              <a:gd fmla="val 7142"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21"/>
          <p:cNvSpPr/>
          <p:nvPr/>
        </p:nvSpPr>
        <p:spPr>
          <a:xfrm>
            <a:off x="6967091" y="2252662"/>
            <a:ext cx="4615200" cy="447600"/>
          </a:xfrm>
          <a:prstGeom prst="roundRect">
            <a:avLst>
              <a:gd fmla="val 21276" name="adj"/>
            </a:avLst>
          </a:prstGeom>
          <a:solidFill>
            <a:srgbClr val="F0FDF4"/>
          </a:solidFill>
          <a:ln cap="flat" cmpd="sng" w="9525">
            <a:solidFill>
              <a:srgbClr val="BBF7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21"/>
          <p:cNvSpPr/>
          <p:nvPr/>
        </p:nvSpPr>
        <p:spPr>
          <a:xfrm>
            <a:off x="6967091" y="2795587"/>
            <a:ext cx="4615200" cy="447600"/>
          </a:xfrm>
          <a:prstGeom prst="roundRect">
            <a:avLst>
              <a:gd fmla="val 21276" name="adj"/>
            </a:avLst>
          </a:prstGeom>
          <a:solidFill>
            <a:srgbClr val="EFF6FF"/>
          </a:solidFill>
          <a:ln cap="flat" cmpd="sng" w="9525">
            <a:solidFill>
              <a:srgbClr val="BFDB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1"/>
          <p:cNvSpPr/>
          <p:nvPr/>
        </p:nvSpPr>
        <p:spPr>
          <a:xfrm>
            <a:off x="6967091" y="3338512"/>
            <a:ext cx="4615200" cy="447600"/>
          </a:xfrm>
          <a:prstGeom prst="roundRect">
            <a:avLst>
              <a:gd fmla="val 21276" name="adj"/>
            </a:avLst>
          </a:prstGeom>
          <a:solidFill>
            <a:srgbClr val="FDF4FF"/>
          </a:solidFill>
          <a:ln cap="flat" cmpd="sng" w="9525">
            <a:solidFill>
              <a:srgbClr val="F5D0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21"/>
          <p:cNvSpPr/>
          <p:nvPr/>
        </p:nvSpPr>
        <p:spPr>
          <a:xfrm>
            <a:off x="6967091" y="3881437"/>
            <a:ext cx="4615200" cy="447600"/>
          </a:xfrm>
          <a:prstGeom prst="roundRect">
            <a:avLst>
              <a:gd fmla="val 21276" name="adj"/>
            </a:avLst>
          </a:prstGeom>
          <a:solidFill>
            <a:srgbClr val="FEFCE8"/>
          </a:solidFill>
          <a:ln cap="flat" cmpd="sng" w="9525">
            <a:solidFill>
              <a:srgbClr val="FEF0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21"/>
          <p:cNvSpPr/>
          <p:nvPr/>
        </p:nvSpPr>
        <p:spPr>
          <a:xfrm>
            <a:off x="6967091" y="4424362"/>
            <a:ext cx="4615200" cy="447600"/>
          </a:xfrm>
          <a:prstGeom prst="roundRect">
            <a:avLst>
              <a:gd fmla="val 21276" name="adj"/>
            </a:avLst>
          </a:prstGeom>
          <a:solidFill>
            <a:srgbClr val="FFF1F2"/>
          </a:solidFill>
          <a:ln cap="flat" cmpd="sng" w="9525">
            <a:solidFill>
              <a:srgbClr val="FECDD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21"/>
          <p:cNvSpPr/>
          <p:nvPr/>
        </p:nvSpPr>
        <p:spPr>
          <a:xfrm>
            <a:off x="6967091" y="4967287"/>
            <a:ext cx="4615200" cy="447600"/>
          </a:xfrm>
          <a:prstGeom prst="roundRect">
            <a:avLst>
              <a:gd fmla="val 21276" name="adj"/>
            </a:avLst>
          </a:prstGeom>
          <a:solidFill>
            <a:srgbClr val="F1F5F9"/>
          </a:solidFill>
          <a:ln cap="flat" cmpd="sng" w="9525">
            <a:solidFill>
              <a:srgbClr val="CBD5E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1"/>
          <p:cNvSpPr/>
          <p:nvPr/>
        </p:nvSpPr>
        <p:spPr>
          <a:xfrm>
            <a:off x="885825" y="4442073"/>
            <a:ext cx="28500" cy="5334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1"/>
          <p:cNvSpPr txBox="1"/>
          <p:nvPr/>
        </p:nvSpPr>
        <p:spPr>
          <a:xfrm>
            <a:off x="609600" y="695325"/>
            <a:ext cx="115824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2400" u="none" strike="noStrike">
                <a:solidFill>
                  <a:srgbClr val="0F172A"/>
                </a:solidFill>
                <a:latin typeface="Plus Jakarta Sans"/>
                <a:ea typeface="Plus Jakarta Sans"/>
                <a:cs typeface="Plus Jakarta Sans"/>
                <a:sym typeface="Plus Jakarta Sans"/>
              </a:rPr>
              <a:t>Paraphrase Modeling in Scientific Literature</a:t>
            </a:r>
            <a:endParaRPr b="1" i="0" sz="2400" u="none" strike="noStrike">
              <a:solidFill>
                <a:srgbClr val="0F172A"/>
              </a:solidFill>
              <a:latin typeface="Plus Jakarta Sans"/>
              <a:ea typeface="Plus Jakarta Sans"/>
              <a:cs typeface="Plus Jakarta Sans"/>
              <a:sym typeface="Plus Jakarta Sans"/>
            </a:endParaRPr>
          </a:p>
        </p:txBody>
      </p:sp>
      <p:sp>
        <p:nvSpPr>
          <p:cNvPr id="306" name="Google Shape;306;p21"/>
          <p:cNvSpPr txBox="1"/>
          <p:nvPr/>
        </p:nvSpPr>
        <p:spPr>
          <a:xfrm>
            <a:off x="981075" y="2739781"/>
            <a:ext cx="1981200" cy="128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833" u="none" strike="noStrike">
                <a:solidFill>
                  <a:srgbClr val="0369A1"/>
                </a:solidFill>
                <a:latin typeface="Plus Jakarta Sans"/>
                <a:ea typeface="Plus Jakarta Sans"/>
                <a:cs typeface="Plus Jakarta Sans"/>
                <a:sym typeface="Plus Jakarta Sans"/>
              </a:rPr>
              <a:t>ORIGINAL PARAGRAPH (IPCC, 2023)</a:t>
            </a:r>
            <a:endParaRPr b="1" i="0" sz="833" u="none" strike="noStrike">
              <a:solidFill>
                <a:srgbClr val="0369A1"/>
              </a:solidFill>
              <a:latin typeface="Plus Jakarta Sans"/>
              <a:ea typeface="Plus Jakarta Sans"/>
              <a:cs typeface="Plus Jakarta Sans"/>
              <a:sym typeface="Plus Jakarta Sans"/>
            </a:endParaRPr>
          </a:p>
        </p:txBody>
      </p:sp>
      <p:sp>
        <p:nvSpPr>
          <p:cNvPr id="307" name="Google Shape;307;p21"/>
          <p:cNvSpPr txBox="1"/>
          <p:nvPr/>
        </p:nvSpPr>
        <p:spPr>
          <a:xfrm>
            <a:off x="885825" y="3035051"/>
            <a:ext cx="5633700" cy="1413000"/>
          </a:xfrm>
          <a:prstGeom prst="rect">
            <a:avLst/>
          </a:prstGeom>
          <a:noFill/>
          <a:ln>
            <a:noFill/>
          </a:ln>
        </p:spPr>
        <p:txBody>
          <a:bodyPr anchorCtr="0" anchor="t" bIns="0" lIns="0" spcFirstLastPara="1" rIns="0" wrap="square" tIns="0">
            <a:spAutoFit/>
          </a:bodyPr>
          <a:lstStyle/>
          <a:p>
            <a:pPr indent="0" lvl="0" marL="0" marR="0" rtl="0" algn="l">
              <a:lnSpc>
                <a:spcPct val="154980"/>
              </a:lnSpc>
              <a:spcBef>
                <a:spcPts val="0"/>
              </a:spcBef>
              <a:spcAft>
                <a:spcPts val="0"/>
              </a:spcAft>
              <a:buNone/>
            </a:pPr>
            <a:r>
              <a:rPr b="0" i="1" lang="en-US" sz="1275" u="none" cap="none" strike="noStrike">
                <a:solidFill>
                  <a:srgbClr val="334155"/>
                </a:solidFill>
                <a:latin typeface="Lora"/>
                <a:ea typeface="Lora"/>
                <a:cs typeface="Lora"/>
                <a:sym typeface="Lora"/>
              </a:rPr>
              <a:t> "Human activities, principally through emissions of greenhouse gases, have unequivocally caused global warming, with global surface temperature reaching 1.1°C above 1850–1900 in 2011–2020. Global greenhouse gas emissions have continued to increase, with unequal historical and ongoing contributions arising from unsustainable energy use." </a:t>
            </a:r>
            <a:endParaRPr/>
          </a:p>
        </p:txBody>
      </p:sp>
      <p:sp>
        <p:nvSpPr>
          <p:cNvPr id="308" name="Google Shape;308;p21"/>
          <p:cNvSpPr txBox="1"/>
          <p:nvPr/>
        </p:nvSpPr>
        <p:spPr>
          <a:xfrm>
            <a:off x="1047750" y="4537319"/>
            <a:ext cx="53382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050" u="none" strike="noStrike">
                <a:solidFill>
                  <a:srgbClr val="0F172A"/>
                </a:solidFill>
                <a:latin typeface="Plus Jakarta Sans"/>
                <a:ea typeface="Plus Jakarta Sans"/>
                <a:cs typeface="Plus Jakarta Sans"/>
                <a:sym typeface="Plus Jakarta Sans"/>
              </a:rPr>
              <a:t>Suggested paraphrase: Anthropogenic atmospheric emissions drive recent climate heating disproportionately (IPCC, 2023).</a:t>
            </a:r>
            <a:endParaRPr b="1" i="0" sz="1050" u="none" strike="noStrike">
              <a:solidFill>
                <a:srgbClr val="0F172A"/>
              </a:solidFill>
              <a:latin typeface="Plus Jakarta Sans"/>
              <a:ea typeface="Plus Jakarta Sans"/>
              <a:cs typeface="Plus Jakarta Sans"/>
              <a:sym typeface="Plus Jakarta Sans"/>
            </a:endParaRPr>
          </a:p>
        </p:txBody>
      </p:sp>
      <p:sp>
        <p:nvSpPr>
          <p:cNvPr id="309" name="Google Shape;309;p21"/>
          <p:cNvSpPr txBox="1"/>
          <p:nvPr/>
        </p:nvSpPr>
        <p:spPr>
          <a:xfrm>
            <a:off x="7148065" y="2376488"/>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166534"/>
                </a:solidFill>
                <a:latin typeface="Plus Jakarta Sans"/>
                <a:ea typeface="Plus Jakarta Sans"/>
                <a:cs typeface="Plus Jakarta Sans"/>
                <a:sym typeface="Plus Jakarta Sans"/>
              </a:rPr>
              <a:t>1. Replaces human activities with anthropogenic.</a:t>
            </a:r>
            <a:endParaRPr b="1" i="0" sz="1200" u="none" strike="noStrike">
              <a:solidFill>
                <a:srgbClr val="166534"/>
              </a:solidFill>
              <a:latin typeface="Plus Jakarta Sans"/>
              <a:ea typeface="Plus Jakarta Sans"/>
              <a:cs typeface="Plus Jakarta Sans"/>
              <a:sym typeface="Plus Jakarta Sans"/>
            </a:endParaRPr>
          </a:p>
        </p:txBody>
      </p:sp>
      <p:sp>
        <p:nvSpPr>
          <p:cNvPr id="310" name="Google Shape;310;p21"/>
          <p:cNvSpPr txBox="1"/>
          <p:nvPr/>
        </p:nvSpPr>
        <p:spPr>
          <a:xfrm>
            <a:off x="7148065" y="2919413"/>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1E40AF"/>
                </a:solidFill>
                <a:latin typeface="Plus Jakarta Sans"/>
                <a:ea typeface="Plus Jakarta Sans"/>
                <a:cs typeface="Plus Jakarta Sans"/>
                <a:sym typeface="Plus Jakarta Sans"/>
              </a:rPr>
              <a:t>2. Converts caused into progressive drive.</a:t>
            </a:r>
            <a:endParaRPr b="1" i="0" sz="1200" u="none" strike="noStrike">
              <a:solidFill>
                <a:srgbClr val="1E40AF"/>
              </a:solidFill>
              <a:latin typeface="Plus Jakarta Sans"/>
              <a:ea typeface="Plus Jakarta Sans"/>
              <a:cs typeface="Plus Jakarta Sans"/>
              <a:sym typeface="Plus Jakarta Sans"/>
            </a:endParaRPr>
          </a:p>
        </p:txBody>
      </p:sp>
      <p:sp>
        <p:nvSpPr>
          <p:cNvPr id="311" name="Google Shape;311;p21"/>
          <p:cNvSpPr txBox="1"/>
          <p:nvPr/>
        </p:nvSpPr>
        <p:spPr>
          <a:xfrm>
            <a:off x="7148065" y="3462338"/>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86198F"/>
                </a:solidFill>
                <a:latin typeface="Plus Jakarta Sans"/>
                <a:ea typeface="Plus Jakarta Sans"/>
                <a:cs typeface="Plus Jakarta Sans"/>
                <a:sym typeface="Plus Jakarta Sans"/>
              </a:rPr>
              <a:t>3. Condenses numerical temperature data.</a:t>
            </a:r>
            <a:endParaRPr b="1" i="0" sz="1200" u="none" strike="noStrike">
              <a:solidFill>
                <a:srgbClr val="86198F"/>
              </a:solidFill>
              <a:latin typeface="Plus Jakarta Sans"/>
              <a:ea typeface="Plus Jakarta Sans"/>
              <a:cs typeface="Plus Jakarta Sans"/>
              <a:sym typeface="Plus Jakarta Sans"/>
            </a:endParaRPr>
          </a:p>
        </p:txBody>
      </p:sp>
      <p:sp>
        <p:nvSpPr>
          <p:cNvPr id="312" name="Google Shape;312;p21"/>
          <p:cNvSpPr txBox="1"/>
          <p:nvPr/>
        </p:nvSpPr>
        <p:spPr>
          <a:xfrm>
            <a:off x="7148065" y="4005263"/>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854D0E"/>
                </a:solidFill>
                <a:latin typeface="Plus Jakarta Sans"/>
                <a:ea typeface="Plus Jakarta Sans"/>
                <a:cs typeface="Plus Jakarta Sans"/>
                <a:sym typeface="Plus Jakarta Sans"/>
              </a:rPr>
              <a:t>4. Rearranges initial causal clauses.</a:t>
            </a:r>
            <a:endParaRPr b="1" i="0" sz="1200" u="none" strike="noStrike">
              <a:solidFill>
                <a:srgbClr val="854D0E"/>
              </a:solidFill>
              <a:latin typeface="Plus Jakarta Sans"/>
              <a:ea typeface="Plus Jakarta Sans"/>
              <a:cs typeface="Plus Jakarta Sans"/>
              <a:sym typeface="Plus Jakarta Sans"/>
            </a:endParaRPr>
          </a:p>
        </p:txBody>
      </p:sp>
      <p:sp>
        <p:nvSpPr>
          <p:cNvPr id="313" name="Google Shape;313;p21"/>
          <p:cNvSpPr txBox="1"/>
          <p:nvPr/>
        </p:nvSpPr>
        <p:spPr>
          <a:xfrm>
            <a:off x="7148065" y="4548188"/>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9F1239"/>
                </a:solidFill>
                <a:latin typeface="Plus Jakarta Sans"/>
                <a:ea typeface="Plus Jakarta Sans"/>
                <a:cs typeface="Plus Jakarta Sans"/>
                <a:sym typeface="Plus Jakarta Sans"/>
              </a:rPr>
              <a:t>5. Summarizes unequal contributions as disproportionately.</a:t>
            </a:r>
            <a:endParaRPr b="1" i="0" sz="1200" u="none" strike="noStrike">
              <a:solidFill>
                <a:srgbClr val="9F1239"/>
              </a:solidFill>
              <a:latin typeface="Plus Jakarta Sans"/>
              <a:ea typeface="Plus Jakarta Sans"/>
              <a:cs typeface="Plus Jakarta Sans"/>
              <a:sym typeface="Plus Jakarta Sans"/>
            </a:endParaRPr>
          </a:p>
        </p:txBody>
      </p:sp>
      <p:sp>
        <p:nvSpPr>
          <p:cNvPr id="314" name="Google Shape;314;p21"/>
          <p:cNvSpPr txBox="1"/>
          <p:nvPr/>
        </p:nvSpPr>
        <p:spPr>
          <a:xfrm>
            <a:off x="7148065" y="5091113"/>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334155"/>
                </a:solidFill>
                <a:latin typeface="Plus Jakarta Sans"/>
                <a:ea typeface="Plus Jakarta Sans"/>
                <a:cs typeface="Plus Jakarta Sans"/>
                <a:sym typeface="Plus Jakarta Sans"/>
              </a:rPr>
              <a:t>6. Preserves formal APA attribution.</a:t>
            </a:r>
            <a:endParaRPr b="1" i="0" sz="1200" u="none" strike="noStrike">
              <a:solidFill>
                <a:srgbClr val="334155"/>
              </a:solidFill>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22"/>
          <p:cNvSpPr/>
          <p:nvPr/>
        </p:nvSpPr>
        <p:spPr>
          <a:xfrm>
            <a:off x="609600" y="2490787"/>
            <a:ext cx="6090900" cy="2685900"/>
          </a:xfrm>
          <a:prstGeom prst="roundRect">
            <a:avLst>
              <a:gd fmla="val 4964"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2"/>
          <p:cNvSpPr/>
          <p:nvPr/>
        </p:nvSpPr>
        <p:spPr>
          <a:xfrm>
            <a:off x="885825" y="2738437"/>
            <a:ext cx="2695500" cy="219000"/>
          </a:xfrm>
          <a:prstGeom prst="roundRect">
            <a:avLst>
              <a:gd fmla="val 26086" name="adj"/>
            </a:avLst>
          </a:prstGeom>
          <a:solidFill>
            <a:srgbClr val="EDE9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2"/>
          <p:cNvSpPr/>
          <p:nvPr/>
        </p:nvSpPr>
        <p:spPr>
          <a:xfrm>
            <a:off x="885825" y="4405163"/>
            <a:ext cx="5538300" cy="533400"/>
          </a:xfrm>
          <a:prstGeom prst="roundRect">
            <a:avLst>
              <a:gd fmla="val 7142"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22"/>
          <p:cNvSpPr/>
          <p:nvPr/>
        </p:nvSpPr>
        <p:spPr>
          <a:xfrm>
            <a:off x="6967091" y="2252662"/>
            <a:ext cx="4615200" cy="447600"/>
          </a:xfrm>
          <a:prstGeom prst="roundRect">
            <a:avLst>
              <a:gd fmla="val 21276" name="adj"/>
            </a:avLst>
          </a:prstGeom>
          <a:solidFill>
            <a:srgbClr val="F0FDF4"/>
          </a:solidFill>
          <a:ln cap="flat" cmpd="sng" w="9525">
            <a:solidFill>
              <a:srgbClr val="BBF7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22"/>
          <p:cNvSpPr/>
          <p:nvPr/>
        </p:nvSpPr>
        <p:spPr>
          <a:xfrm>
            <a:off x="6967091" y="2795587"/>
            <a:ext cx="4615200" cy="447600"/>
          </a:xfrm>
          <a:prstGeom prst="roundRect">
            <a:avLst>
              <a:gd fmla="val 21276" name="adj"/>
            </a:avLst>
          </a:prstGeom>
          <a:solidFill>
            <a:srgbClr val="EFF6FF"/>
          </a:solidFill>
          <a:ln cap="flat" cmpd="sng" w="9525">
            <a:solidFill>
              <a:srgbClr val="BFDB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4" name="Google Shape;324;p22"/>
          <p:cNvSpPr/>
          <p:nvPr/>
        </p:nvSpPr>
        <p:spPr>
          <a:xfrm>
            <a:off x="6967091" y="3338512"/>
            <a:ext cx="4615200" cy="447600"/>
          </a:xfrm>
          <a:prstGeom prst="roundRect">
            <a:avLst>
              <a:gd fmla="val 21276" name="adj"/>
            </a:avLst>
          </a:prstGeom>
          <a:solidFill>
            <a:srgbClr val="FEFCE8"/>
          </a:solidFill>
          <a:ln cap="flat" cmpd="sng" w="9525">
            <a:solidFill>
              <a:srgbClr val="FEF0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22"/>
          <p:cNvSpPr/>
          <p:nvPr/>
        </p:nvSpPr>
        <p:spPr>
          <a:xfrm>
            <a:off x="6967091" y="3881437"/>
            <a:ext cx="4615200" cy="447600"/>
          </a:xfrm>
          <a:prstGeom prst="roundRect">
            <a:avLst>
              <a:gd fmla="val 21276" name="adj"/>
            </a:avLst>
          </a:prstGeom>
          <a:solidFill>
            <a:srgbClr val="FDF4FF"/>
          </a:solidFill>
          <a:ln cap="flat" cmpd="sng" w="9525">
            <a:solidFill>
              <a:srgbClr val="F5D0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2"/>
          <p:cNvSpPr/>
          <p:nvPr/>
        </p:nvSpPr>
        <p:spPr>
          <a:xfrm>
            <a:off x="6967091" y="4424362"/>
            <a:ext cx="4615200" cy="447600"/>
          </a:xfrm>
          <a:prstGeom prst="roundRect">
            <a:avLst>
              <a:gd fmla="val 21276" name="adj"/>
            </a:avLst>
          </a:prstGeom>
          <a:solidFill>
            <a:srgbClr val="ECFEFF"/>
          </a:solidFill>
          <a:ln cap="flat" cmpd="sng" w="9525">
            <a:solidFill>
              <a:srgbClr val="A5F3F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22"/>
          <p:cNvSpPr/>
          <p:nvPr/>
        </p:nvSpPr>
        <p:spPr>
          <a:xfrm>
            <a:off x="6967091" y="4967287"/>
            <a:ext cx="4615200" cy="447600"/>
          </a:xfrm>
          <a:prstGeom prst="roundRect">
            <a:avLst>
              <a:gd fmla="val 21276" name="adj"/>
            </a:avLst>
          </a:prstGeom>
          <a:solidFill>
            <a:srgbClr val="F1F5F9"/>
          </a:solidFill>
          <a:ln cap="flat" cmpd="sng" w="9525">
            <a:solidFill>
              <a:srgbClr val="CBD5E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22"/>
          <p:cNvSpPr/>
          <p:nvPr/>
        </p:nvSpPr>
        <p:spPr>
          <a:xfrm>
            <a:off x="885825" y="4405163"/>
            <a:ext cx="28500" cy="53340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22"/>
          <p:cNvSpPr txBox="1"/>
          <p:nvPr/>
        </p:nvSpPr>
        <p:spPr>
          <a:xfrm>
            <a:off x="609600" y="695325"/>
            <a:ext cx="115824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2400" u="none" strike="noStrike">
                <a:solidFill>
                  <a:srgbClr val="0F172A"/>
                </a:solidFill>
                <a:latin typeface="Plus Jakarta Sans"/>
                <a:ea typeface="Plus Jakarta Sans"/>
                <a:cs typeface="Plus Jakarta Sans"/>
                <a:sym typeface="Plus Jakarta Sans"/>
              </a:rPr>
              <a:t>Summary Modeling in Scientific Literature</a:t>
            </a:r>
            <a:endParaRPr b="1" i="0" sz="2400" u="none" strike="noStrike">
              <a:solidFill>
                <a:srgbClr val="0F172A"/>
              </a:solidFill>
              <a:latin typeface="Plus Jakarta Sans"/>
              <a:ea typeface="Plus Jakarta Sans"/>
              <a:cs typeface="Plus Jakarta Sans"/>
              <a:sym typeface="Plus Jakarta Sans"/>
            </a:endParaRPr>
          </a:p>
        </p:txBody>
      </p:sp>
      <p:sp>
        <p:nvSpPr>
          <p:cNvPr id="330" name="Google Shape;330;p22"/>
          <p:cNvSpPr txBox="1"/>
          <p:nvPr/>
        </p:nvSpPr>
        <p:spPr>
          <a:xfrm>
            <a:off x="981075" y="2776538"/>
            <a:ext cx="2600400" cy="128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833" u="none" strike="noStrike">
                <a:solidFill>
                  <a:srgbClr val="7C3AED"/>
                </a:solidFill>
                <a:latin typeface="Plus Jakarta Sans"/>
                <a:ea typeface="Plus Jakarta Sans"/>
                <a:cs typeface="Plus Jakarta Sans"/>
                <a:sym typeface="Plus Jakarta Sans"/>
              </a:rPr>
              <a:t>ORIGINAL PARAGRAPH (SWALES &amp; FEAK, 2012)</a:t>
            </a:r>
            <a:endParaRPr b="1" i="0" sz="833" u="none" strike="noStrike">
              <a:solidFill>
                <a:srgbClr val="7C3AED"/>
              </a:solidFill>
              <a:latin typeface="Plus Jakarta Sans"/>
              <a:ea typeface="Plus Jakarta Sans"/>
              <a:cs typeface="Plus Jakarta Sans"/>
              <a:sym typeface="Plus Jakarta Sans"/>
            </a:endParaRPr>
          </a:p>
        </p:txBody>
      </p:sp>
      <p:sp>
        <p:nvSpPr>
          <p:cNvPr id="331" name="Google Shape;331;p22"/>
          <p:cNvSpPr txBox="1"/>
          <p:nvPr/>
        </p:nvSpPr>
        <p:spPr>
          <a:xfrm>
            <a:off x="885825" y="3071812"/>
            <a:ext cx="5633700" cy="13299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1" lang="en-US" sz="1200" u="none" cap="none" strike="noStrike">
                <a:solidFill>
                  <a:srgbClr val="334155"/>
                </a:solidFill>
                <a:latin typeface="Lora"/>
                <a:ea typeface="Lora"/>
                <a:cs typeface="Lora"/>
                <a:sym typeface="Lora"/>
              </a:rPr>
              <a:t> "Writing an effective academic summary requires reading comprehension and text reduction skills. Novice writers frequently struggle because they copy sentences almost directly from the source without recognizing rhetorical organization. Consequently, their summaries often lack coherence and sound fragmented, relying on superficial lexical substitution." </a:t>
            </a:r>
            <a:endParaRPr/>
          </a:p>
        </p:txBody>
      </p:sp>
      <p:sp>
        <p:nvSpPr>
          <p:cNvPr id="332" name="Google Shape;332;p22"/>
          <p:cNvSpPr txBox="1"/>
          <p:nvPr/>
        </p:nvSpPr>
        <p:spPr>
          <a:xfrm>
            <a:off x="1047750" y="4500410"/>
            <a:ext cx="53382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050" u="none" strike="noStrike">
                <a:solidFill>
                  <a:srgbClr val="0F172A"/>
                </a:solidFill>
                <a:latin typeface="Plus Jakarta Sans"/>
                <a:ea typeface="Plus Jakarta Sans"/>
                <a:cs typeface="Plus Jakarta Sans"/>
                <a:sym typeface="Plus Jakarta Sans"/>
              </a:rPr>
              <a:t>Suggested summary: Synthesizing academic sources requires structural comprehension over simple text substitution (Swales &amp; Feak, 2012).</a:t>
            </a:r>
            <a:endParaRPr b="1" i="0" sz="1050" u="none" strike="noStrike">
              <a:solidFill>
                <a:srgbClr val="0F172A"/>
              </a:solidFill>
              <a:latin typeface="Plus Jakarta Sans"/>
              <a:ea typeface="Plus Jakarta Sans"/>
              <a:cs typeface="Plus Jakarta Sans"/>
              <a:sym typeface="Plus Jakarta Sans"/>
            </a:endParaRPr>
          </a:p>
        </p:txBody>
      </p:sp>
      <p:sp>
        <p:nvSpPr>
          <p:cNvPr id="333" name="Google Shape;333;p22"/>
          <p:cNvSpPr txBox="1"/>
          <p:nvPr/>
        </p:nvSpPr>
        <p:spPr>
          <a:xfrm>
            <a:off x="7148065" y="2376488"/>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166534"/>
                </a:solidFill>
                <a:latin typeface="Plus Jakarta Sans"/>
                <a:ea typeface="Plus Jakarta Sans"/>
                <a:cs typeface="Plus Jakarta Sans"/>
                <a:sym typeface="Plus Jakarta Sans"/>
              </a:rPr>
              <a:t>1. Extracts the main methodological thesis.</a:t>
            </a:r>
            <a:endParaRPr b="1" i="0" sz="1200" u="none" strike="noStrike">
              <a:solidFill>
                <a:srgbClr val="166534"/>
              </a:solidFill>
              <a:latin typeface="Plus Jakarta Sans"/>
              <a:ea typeface="Plus Jakarta Sans"/>
              <a:cs typeface="Plus Jakarta Sans"/>
              <a:sym typeface="Plus Jakarta Sans"/>
            </a:endParaRPr>
          </a:p>
        </p:txBody>
      </p:sp>
      <p:sp>
        <p:nvSpPr>
          <p:cNvPr id="334" name="Google Shape;334;p22"/>
          <p:cNvSpPr txBox="1"/>
          <p:nvPr/>
        </p:nvSpPr>
        <p:spPr>
          <a:xfrm>
            <a:off x="7148065" y="2919413"/>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1E40AF"/>
                </a:solidFill>
                <a:latin typeface="Plus Jakarta Sans"/>
                <a:ea typeface="Plus Jakarta Sans"/>
                <a:cs typeface="Plus Jakarta Sans"/>
                <a:sym typeface="Plus Jakarta Sans"/>
              </a:rPr>
              <a:t>2. Discards descriptions of novice writers.</a:t>
            </a:r>
            <a:endParaRPr b="1" i="0" sz="1200" u="none" strike="noStrike">
              <a:solidFill>
                <a:srgbClr val="1E40AF"/>
              </a:solidFill>
              <a:latin typeface="Plus Jakarta Sans"/>
              <a:ea typeface="Plus Jakarta Sans"/>
              <a:cs typeface="Plus Jakarta Sans"/>
              <a:sym typeface="Plus Jakarta Sans"/>
            </a:endParaRPr>
          </a:p>
        </p:txBody>
      </p:sp>
      <p:sp>
        <p:nvSpPr>
          <p:cNvPr id="335" name="Google Shape;335;p22"/>
          <p:cNvSpPr txBox="1"/>
          <p:nvPr/>
        </p:nvSpPr>
        <p:spPr>
          <a:xfrm>
            <a:off x="7148065" y="3462338"/>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854D0E"/>
                </a:solidFill>
                <a:latin typeface="Plus Jakarta Sans"/>
                <a:ea typeface="Plus Jakarta Sans"/>
                <a:cs typeface="Plus Jakarta Sans"/>
                <a:sym typeface="Plus Jakarta Sans"/>
              </a:rPr>
              <a:t>3. Condenses problems into simple substitution.</a:t>
            </a:r>
            <a:endParaRPr b="1" i="0" sz="1200" u="none" strike="noStrike">
              <a:solidFill>
                <a:srgbClr val="854D0E"/>
              </a:solidFill>
              <a:latin typeface="Plus Jakarta Sans"/>
              <a:ea typeface="Plus Jakarta Sans"/>
              <a:cs typeface="Plus Jakarta Sans"/>
              <a:sym typeface="Plus Jakarta Sans"/>
            </a:endParaRPr>
          </a:p>
        </p:txBody>
      </p:sp>
      <p:sp>
        <p:nvSpPr>
          <p:cNvPr id="336" name="Google Shape;336;p22"/>
          <p:cNvSpPr txBox="1"/>
          <p:nvPr/>
        </p:nvSpPr>
        <p:spPr>
          <a:xfrm>
            <a:off x="7148065" y="4005263"/>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86198F"/>
                </a:solidFill>
                <a:latin typeface="Plus Jakarta Sans"/>
                <a:ea typeface="Plus Jakarta Sans"/>
                <a:cs typeface="Plus Jakarta Sans"/>
                <a:sym typeface="Plus Jakarta Sans"/>
              </a:rPr>
              <a:t>4. Omits secondary fragmentation details.</a:t>
            </a:r>
            <a:endParaRPr b="1" i="0" sz="1200" u="none" strike="noStrike">
              <a:solidFill>
                <a:srgbClr val="86198F"/>
              </a:solidFill>
              <a:latin typeface="Plus Jakarta Sans"/>
              <a:ea typeface="Plus Jakarta Sans"/>
              <a:cs typeface="Plus Jakarta Sans"/>
              <a:sym typeface="Plus Jakarta Sans"/>
            </a:endParaRPr>
          </a:p>
        </p:txBody>
      </p:sp>
      <p:sp>
        <p:nvSpPr>
          <p:cNvPr id="337" name="Google Shape;337;p22"/>
          <p:cNvSpPr txBox="1"/>
          <p:nvPr/>
        </p:nvSpPr>
        <p:spPr>
          <a:xfrm>
            <a:off x="7148065" y="4548188"/>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0E7490"/>
                </a:solidFill>
                <a:latin typeface="Plus Jakarta Sans"/>
                <a:ea typeface="Plus Jakarta Sans"/>
                <a:cs typeface="Plus Jakarta Sans"/>
                <a:sym typeface="Plus Jakarta Sans"/>
              </a:rPr>
              <a:t>5. Emphasizes synthesis skill.</a:t>
            </a:r>
            <a:endParaRPr b="1" i="0" sz="1200" u="none" strike="noStrike">
              <a:solidFill>
                <a:srgbClr val="0E7490"/>
              </a:solidFill>
              <a:latin typeface="Plus Jakarta Sans"/>
              <a:ea typeface="Plus Jakarta Sans"/>
              <a:cs typeface="Plus Jakarta Sans"/>
              <a:sym typeface="Plus Jakarta Sans"/>
            </a:endParaRPr>
          </a:p>
        </p:txBody>
      </p:sp>
      <p:sp>
        <p:nvSpPr>
          <p:cNvPr id="338" name="Google Shape;338;p22"/>
          <p:cNvSpPr txBox="1"/>
          <p:nvPr/>
        </p:nvSpPr>
        <p:spPr>
          <a:xfrm>
            <a:off x="7148065" y="5091113"/>
            <a:ext cx="5043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200" u="none" strike="noStrike">
                <a:solidFill>
                  <a:srgbClr val="334155"/>
                </a:solidFill>
                <a:latin typeface="Plus Jakarta Sans"/>
                <a:ea typeface="Plus Jakarta Sans"/>
                <a:cs typeface="Plus Jakarta Sans"/>
                <a:sym typeface="Plus Jakarta Sans"/>
              </a:rPr>
              <a:t>6. Retains canonical authorship and year.</a:t>
            </a:r>
            <a:endParaRPr b="1" i="0" sz="1200" u="none" strike="noStrike">
              <a:solidFill>
                <a:srgbClr val="334155"/>
              </a:solidFill>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2" name="Shape 342"/>
        <p:cNvGrpSpPr/>
        <p:nvPr/>
      </p:nvGrpSpPr>
      <p:grpSpPr>
        <a:xfrm>
          <a:off x="0" y="0"/>
          <a:ext cx="0" cy="0"/>
          <a:chOff x="0" y="0"/>
          <a:chExt cx="0" cy="0"/>
        </a:xfrm>
      </p:grpSpPr>
      <p:sp>
        <p:nvSpPr>
          <p:cNvPr id="343" name="Google Shape;343;p23"/>
          <p:cNvSpPr/>
          <p:nvPr/>
        </p:nvSpPr>
        <p:spPr>
          <a:xfrm>
            <a:off x="1095375" y="3609975"/>
            <a:ext cx="3181200" cy="1476300"/>
          </a:xfrm>
          <a:prstGeom prst="roundRect">
            <a:avLst>
              <a:gd fmla="val 9032" name="adj"/>
            </a:avLst>
          </a:prstGeom>
          <a:solidFill>
            <a:srgbClr val="F0FDF4"/>
          </a:solidFill>
          <a:ln cap="flat" cmpd="sng" w="9525">
            <a:solidFill>
              <a:srgbClr val="86EF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23"/>
          <p:cNvSpPr/>
          <p:nvPr/>
        </p:nvSpPr>
        <p:spPr>
          <a:xfrm>
            <a:off x="4505325" y="3609975"/>
            <a:ext cx="3181200" cy="1476300"/>
          </a:xfrm>
          <a:prstGeom prst="roundRect">
            <a:avLst>
              <a:gd fmla="val 9032" name="adj"/>
            </a:avLst>
          </a:prstGeom>
          <a:solidFill>
            <a:srgbClr val="EFF6FF"/>
          </a:solidFill>
          <a:ln cap="flat" cmpd="sng" w="9525">
            <a:solidFill>
              <a:srgbClr val="93C5F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23"/>
          <p:cNvSpPr/>
          <p:nvPr/>
        </p:nvSpPr>
        <p:spPr>
          <a:xfrm>
            <a:off x="7915275" y="3609975"/>
            <a:ext cx="3181200" cy="1476300"/>
          </a:xfrm>
          <a:prstGeom prst="roundRect">
            <a:avLst>
              <a:gd fmla="val 9032" name="adj"/>
            </a:avLst>
          </a:prstGeom>
          <a:solidFill>
            <a:srgbClr val="FAF5FF"/>
          </a:solidFill>
          <a:ln cap="flat" cmpd="sng" w="9525">
            <a:solidFill>
              <a:srgbClr val="D8B4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46" name="Google Shape;346;p23"/>
          <p:cNvPicPr preferRelativeResize="0"/>
          <p:nvPr/>
        </p:nvPicPr>
        <p:blipFill rotWithShape="1">
          <a:blip r:embed="rId3">
            <a:alphaModFix/>
          </a:blip>
          <a:srcRect b="0" l="0" r="0" t="0"/>
          <a:stretch/>
        </p:blipFill>
        <p:spPr>
          <a:xfrm>
            <a:off x="1333500" y="3848100"/>
            <a:ext cx="285750" cy="228600"/>
          </a:xfrm>
          <a:prstGeom prst="rect">
            <a:avLst/>
          </a:prstGeom>
          <a:noFill/>
          <a:ln>
            <a:noFill/>
          </a:ln>
        </p:spPr>
      </p:pic>
      <p:pic>
        <p:nvPicPr>
          <p:cNvPr descr="image.png" id="347" name="Google Shape;347;p23"/>
          <p:cNvPicPr preferRelativeResize="0"/>
          <p:nvPr/>
        </p:nvPicPr>
        <p:blipFill rotWithShape="1">
          <a:blip r:embed="rId4">
            <a:alphaModFix/>
          </a:blip>
          <a:srcRect b="0" l="0" r="0" t="0"/>
          <a:stretch/>
        </p:blipFill>
        <p:spPr>
          <a:xfrm>
            <a:off x="4743450" y="3848100"/>
            <a:ext cx="228600" cy="228600"/>
          </a:xfrm>
          <a:prstGeom prst="rect">
            <a:avLst/>
          </a:prstGeom>
          <a:noFill/>
          <a:ln>
            <a:noFill/>
          </a:ln>
        </p:spPr>
      </p:pic>
      <p:pic>
        <p:nvPicPr>
          <p:cNvPr descr="image.png" id="348" name="Google Shape;348;p23"/>
          <p:cNvPicPr preferRelativeResize="0"/>
          <p:nvPr/>
        </p:nvPicPr>
        <p:blipFill rotWithShape="1">
          <a:blip r:embed="rId5">
            <a:alphaModFix/>
          </a:blip>
          <a:srcRect b="0" l="0" r="0" t="0"/>
          <a:stretch/>
        </p:blipFill>
        <p:spPr>
          <a:xfrm>
            <a:off x="8153400" y="3848100"/>
            <a:ext cx="228600" cy="228600"/>
          </a:xfrm>
          <a:prstGeom prst="rect">
            <a:avLst/>
          </a:prstGeom>
          <a:noFill/>
          <a:ln>
            <a:noFill/>
          </a:ln>
        </p:spPr>
      </p:pic>
      <p:sp>
        <p:nvSpPr>
          <p:cNvPr id="349" name="Google Shape;349;p23"/>
          <p:cNvSpPr txBox="1"/>
          <p:nvPr/>
        </p:nvSpPr>
        <p:spPr>
          <a:xfrm>
            <a:off x="2114255" y="2057400"/>
            <a:ext cx="79635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i="0" lang="en-US" sz="3000" u="none" strike="noStrike">
                <a:solidFill>
                  <a:srgbClr val="0F172A"/>
                </a:solidFill>
                <a:latin typeface="Plus Jakarta Sans"/>
                <a:ea typeface="Plus Jakarta Sans"/>
                <a:cs typeface="Plus Jakarta Sans"/>
                <a:sym typeface="Plus Jakarta Sans"/>
              </a:rPr>
              <a:t>Integrity and Critical Thinking</a:t>
            </a:r>
            <a:endParaRPr b="1" i="0" sz="3000" u="none" strike="noStrike">
              <a:solidFill>
                <a:srgbClr val="0F172A"/>
              </a:solidFill>
              <a:latin typeface="Plus Jakarta Sans"/>
              <a:ea typeface="Plus Jakarta Sans"/>
              <a:cs typeface="Plus Jakarta Sans"/>
              <a:sym typeface="Plus Jakarta Sans"/>
            </a:endParaRPr>
          </a:p>
        </p:txBody>
      </p:sp>
      <p:sp>
        <p:nvSpPr>
          <p:cNvPr id="350" name="Google Shape;350;p23"/>
          <p:cNvSpPr txBox="1"/>
          <p:nvPr/>
        </p:nvSpPr>
        <p:spPr>
          <a:xfrm>
            <a:off x="1928813" y="2695575"/>
            <a:ext cx="83343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i="0" lang="en-US" sz="1500" u="none" strike="noStrike">
                <a:solidFill>
                  <a:srgbClr val="475569"/>
                </a:solidFill>
                <a:latin typeface="Plus Jakarta Sans"/>
                <a:ea typeface="Plus Jakarta Sans"/>
                <a:cs typeface="Plus Jakarta Sans"/>
                <a:sym typeface="Plus Jakarta Sans"/>
              </a:rPr>
              <a:t>Authentic paraphrasing and summarizing are not camouflage techniques, but acts of deep comprehension and scientific dialogue.</a:t>
            </a:r>
            <a:endParaRPr b="0" i="0" sz="1500" u="none" strike="noStrike">
              <a:solidFill>
                <a:srgbClr val="475569"/>
              </a:solidFill>
              <a:latin typeface="Plus Jakarta Sans"/>
              <a:ea typeface="Plus Jakarta Sans"/>
              <a:cs typeface="Plus Jakarta Sans"/>
              <a:sym typeface="Plus Jakarta Sans"/>
            </a:endParaRPr>
          </a:p>
        </p:txBody>
      </p:sp>
      <p:sp>
        <p:nvSpPr>
          <p:cNvPr id="351" name="Google Shape;351;p23"/>
          <p:cNvSpPr txBox="1"/>
          <p:nvPr/>
        </p:nvSpPr>
        <p:spPr>
          <a:xfrm>
            <a:off x="1333500" y="4171950"/>
            <a:ext cx="3550500" cy="2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350" u="none" strike="noStrike">
                <a:solidFill>
                  <a:srgbClr val="15803D"/>
                </a:solidFill>
                <a:latin typeface="Plus Jakarta Sans"/>
                <a:ea typeface="Plus Jakarta Sans"/>
                <a:cs typeface="Plus Jakarta Sans"/>
                <a:sym typeface="Plus Jakarta Sans"/>
              </a:rPr>
              <a:t>Academic Voice</a:t>
            </a:r>
            <a:endParaRPr b="1" i="0" sz="1350" u="none" strike="noStrike">
              <a:solidFill>
                <a:srgbClr val="15803D"/>
              </a:solidFill>
              <a:latin typeface="Plus Jakarta Sans"/>
              <a:ea typeface="Plus Jakarta Sans"/>
              <a:cs typeface="Plus Jakarta Sans"/>
              <a:sym typeface="Plus Jakarta Sans"/>
            </a:endParaRPr>
          </a:p>
        </p:txBody>
      </p:sp>
      <p:sp>
        <p:nvSpPr>
          <p:cNvPr id="352" name="Google Shape;352;p23"/>
          <p:cNvSpPr txBox="1"/>
          <p:nvPr/>
        </p:nvSpPr>
        <p:spPr>
          <a:xfrm>
            <a:off x="1333500" y="4448175"/>
            <a:ext cx="2800500" cy="346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125" u="none" strike="noStrike">
                <a:solidFill>
                  <a:srgbClr val="166534"/>
                </a:solidFill>
                <a:latin typeface="Plus Jakarta Sans"/>
                <a:ea typeface="Plus Jakarta Sans"/>
                <a:cs typeface="Plus Jakarta Sans"/>
                <a:sym typeface="Plus Jakarta Sans"/>
              </a:rPr>
              <a:t>Builds solid, personal argumentative authority.</a:t>
            </a:r>
            <a:endParaRPr b="0" i="0" sz="1125" u="none" strike="noStrike">
              <a:solidFill>
                <a:srgbClr val="166534"/>
              </a:solidFill>
              <a:latin typeface="Plus Jakarta Sans"/>
              <a:ea typeface="Plus Jakarta Sans"/>
              <a:cs typeface="Plus Jakarta Sans"/>
              <a:sym typeface="Plus Jakarta Sans"/>
            </a:endParaRPr>
          </a:p>
        </p:txBody>
      </p:sp>
      <p:sp>
        <p:nvSpPr>
          <p:cNvPr id="353" name="Google Shape;353;p23"/>
          <p:cNvSpPr txBox="1"/>
          <p:nvPr/>
        </p:nvSpPr>
        <p:spPr>
          <a:xfrm>
            <a:off x="4743450" y="4171950"/>
            <a:ext cx="3550500" cy="2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350" u="none" strike="noStrike">
                <a:solidFill>
                  <a:srgbClr val="1D4ED8"/>
                </a:solidFill>
                <a:latin typeface="Plus Jakarta Sans"/>
                <a:ea typeface="Plus Jakarta Sans"/>
                <a:cs typeface="Plus Jakarta Sans"/>
                <a:sym typeface="Plus Jakarta Sans"/>
              </a:rPr>
              <a:t>Cognitive Processing</a:t>
            </a:r>
            <a:endParaRPr b="1" i="0" sz="1350" u="none" strike="noStrike">
              <a:solidFill>
                <a:srgbClr val="1D4ED8"/>
              </a:solidFill>
              <a:latin typeface="Plus Jakarta Sans"/>
              <a:ea typeface="Plus Jakarta Sans"/>
              <a:cs typeface="Plus Jakarta Sans"/>
              <a:sym typeface="Plus Jakarta Sans"/>
            </a:endParaRPr>
          </a:p>
        </p:txBody>
      </p:sp>
      <p:sp>
        <p:nvSpPr>
          <p:cNvPr id="354" name="Google Shape;354;p23"/>
          <p:cNvSpPr txBox="1"/>
          <p:nvPr/>
        </p:nvSpPr>
        <p:spPr>
          <a:xfrm>
            <a:off x="4743450" y="4448175"/>
            <a:ext cx="2800500" cy="346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125" u="none" strike="noStrike">
                <a:solidFill>
                  <a:srgbClr val="1E40AF"/>
                </a:solidFill>
                <a:latin typeface="Plus Jakarta Sans"/>
                <a:ea typeface="Plus Jakarta Sans"/>
                <a:cs typeface="Plus Jakarta Sans"/>
                <a:sym typeface="Plus Jakarta Sans"/>
              </a:rPr>
              <a:t>Demonstrates analytical evidence evaluation.</a:t>
            </a:r>
            <a:endParaRPr b="0" i="0" sz="1125" u="none" strike="noStrike">
              <a:solidFill>
                <a:srgbClr val="1E40AF"/>
              </a:solidFill>
              <a:latin typeface="Plus Jakarta Sans"/>
              <a:ea typeface="Plus Jakarta Sans"/>
              <a:cs typeface="Plus Jakarta Sans"/>
              <a:sym typeface="Plus Jakarta Sans"/>
            </a:endParaRPr>
          </a:p>
        </p:txBody>
      </p:sp>
      <p:sp>
        <p:nvSpPr>
          <p:cNvPr id="355" name="Google Shape;355;p23"/>
          <p:cNvSpPr txBox="1"/>
          <p:nvPr/>
        </p:nvSpPr>
        <p:spPr>
          <a:xfrm>
            <a:off x="8153400" y="4171950"/>
            <a:ext cx="3550500" cy="2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350" u="none" strike="noStrike">
                <a:solidFill>
                  <a:srgbClr val="7E22CE"/>
                </a:solidFill>
                <a:latin typeface="Plus Jakarta Sans"/>
                <a:ea typeface="Plus Jakarta Sans"/>
                <a:cs typeface="Plus Jakarta Sans"/>
                <a:sym typeface="Plus Jakarta Sans"/>
              </a:rPr>
              <a:t>Research Ethics</a:t>
            </a:r>
            <a:endParaRPr b="1" i="0" sz="1350" u="none" strike="noStrike">
              <a:solidFill>
                <a:srgbClr val="7E22CE"/>
              </a:solidFill>
              <a:latin typeface="Plus Jakarta Sans"/>
              <a:ea typeface="Plus Jakarta Sans"/>
              <a:cs typeface="Plus Jakarta Sans"/>
              <a:sym typeface="Plus Jakarta Sans"/>
            </a:endParaRPr>
          </a:p>
        </p:txBody>
      </p:sp>
      <p:sp>
        <p:nvSpPr>
          <p:cNvPr id="356" name="Google Shape;356;p23"/>
          <p:cNvSpPr txBox="1"/>
          <p:nvPr/>
        </p:nvSpPr>
        <p:spPr>
          <a:xfrm>
            <a:off x="8153400" y="4448175"/>
            <a:ext cx="3381300" cy="17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125" u="none" strike="noStrike">
                <a:solidFill>
                  <a:srgbClr val="6B21A8"/>
                </a:solidFill>
                <a:latin typeface="Plus Jakarta Sans"/>
                <a:ea typeface="Plus Jakarta Sans"/>
                <a:cs typeface="Plus Jakarta Sans"/>
                <a:sym typeface="Plus Jakarta Sans"/>
              </a:rPr>
              <a:t>Guarantees fair and rigorous attribution.</a:t>
            </a:r>
            <a:endParaRPr b="0" i="0" sz="1125" u="none" strike="noStrike">
              <a:solidFill>
                <a:srgbClr val="6B21A8"/>
              </a:solidFill>
              <a:latin typeface="Plus Jakarta Sans"/>
              <a:ea typeface="Plus Jakarta Sans"/>
              <a:cs typeface="Plus Jakarta Sans"/>
              <a:sym typeface="Plus Jakarta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